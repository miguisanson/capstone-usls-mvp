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9.pn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14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2.png"/><Relationship Id="rId4" Type="http://schemas.openxmlformats.org/officeDocument/2006/relationships/image" Target="../media/image6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16.png"/><Relationship Id="rId8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6692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>
                <a:solidFill>
                  <a:srgbClr val="A8D2BD"/>
                </a:solidFill>
                <a:latin typeface="Arial"/>
              </a:rPr>
              <a:t>CAPSTONE 1  ·  80% IT DEVELOPMENT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6070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500" b="1" i="0">
                <a:solidFill>
                  <a:srgbClr val="CDEBD8"/>
                </a:solidFill>
                <a:latin typeface="Arial"/>
              </a:rPr>
              <a:t>DEVELOPING A GRADUATE STUDENT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500" b="1" i="0">
                <a:solidFill>
                  <a:srgbClr val="CDEBD8"/>
                </a:solidFill>
                <a:latin typeface="Arial"/>
              </a:rPr>
              <a:t>LIFECYCLE MONITORING AND ANALYTICS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500" b="1" i="0">
                <a:solidFill>
                  <a:srgbClr val="CDEBD8"/>
                </a:solidFill>
                <a:latin typeface="Arial"/>
              </a:rPr>
              <a:t>PLATFORM FOR THE UNIVERSITY OF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500" b="1" i="0">
                <a:solidFill>
                  <a:srgbClr val="CDEBD8"/>
                </a:solidFill>
                <a:latin typeface="Arial"/>
              </a:rPr>
              <a:t>ST. LA SALLE GRADUATE SCHOOL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230368"/>
            <a:ext cx="2743200" cy="694944"/>
          </a:xfrm>
          <a:prstGeom prst="roundRect">
            <a:avLst>
              <a:gd name="adj" fmla="val 50000"/>
            </a:avLst>
          </a:prstGeom>
          <a:solidFill>
            <a:srgbClr val="CFE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5230368"/>
            <a:ext cx="27432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2300" b="1" i="0">
                <a:solidFill>
                  <a:srgbClr val="0B3D3B"/>
                </a:solidFill>
                <a:latin typeface="Arial"/>
              </a:rPr>
              <a:t>CAP-2521-IT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03904" y="5230368"/>
            <a:ext cx="7562088" cy="694944"/>
          </a:xfrm>
          <a:prstGeom prst="roundRect">
            <a:avLst>
              <a:gd name="adj" fmla="val 16000"/>
            </a:avLst>
          </a:prstGeom>
          <a:solidFill>
            <a:srgbClr val="14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096512" y="5358384"/>
            <a:ext cx="7040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 i="0">
                <a:solidFill>
                  <a:srgbClr val="A8D2BD"/>
                </a:solidFill>
                <a:latin typeface="Calibri"/>
              </a:rPr>
              <a:t>Presented by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96512" y="5577840"/>
            <a:ext cx="7040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Mendoza, Oseña, Sanson, Tumbaga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02336"/>
            <a:ext cx="54864" cy="237744"/>
          </a:xfrm>
          <a:prstGeom prst="rect">
            <a:avLst/>
          </a:prstGeom>
          <a:solidFill>
            <a:srgbClr val="1C9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8404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C9A59"/>
                </a:solidFill>
                <a:latin typeface="Arial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42826"/>
                </a:solidFill>
                <a:latin typeface="Arial"/>
              </a:rPr>
              <a:t>From scattered records to one consolidated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0" i="0">
                <a:solidFill>
                  <a:srgbClr val="5E716E"/>
                </a:solidFill>
                <a:latin typeface="Calibri"/>
              </a:rPr>
              <a:t>The monitoring problem, and what we built against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11680"/>
            <a:ext cx="50292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1">
                <a:solidFill>
                  <a:srgbClr val="1C9A59"/>
                </a:solidFill>
                <a:latin typeface="Calibri"/>
              </a:rPr>
              <a:t>▪  </a:t>
            </a:r>
            <a:r>
              <a:rPr sz="1600" b="1">
                <a:solidFill>
                  <a:srgbClr val="2C3E3C"/>
                </a:solidFill>
                <a:latin typeface="Calibri"/>
              </a:rPr>
              <a:t>Status lives in five places — </a:t>
            </a:r>
            <a:r>
              <a:rPr sz="1600">
                <a:solidFill>
                  <a:srgbClr val="2C3E3C"/>
                </a:solidFill>
                <a:latin typeface="Calibri"/>
              </a:rPr>
              <a:t>AIMS, per-program Excel sheets, protocol forms, filed documents and email.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1">
                <a:solidFill>
                  <a:srgbClr val="1C9A59"/>
                </a:solidFill>
                <a:latin typeface="Calibri"/>
              </a:rPr>
              <a:t>▪  </a:t>
            </a:r>
            <a:r>
              <a:rPr sz="1600" b="1">
                <a:solidFill>
                  <a:srgbClr val="2C3E3C"/>
                </a:solidFill>
                <a:latin typeface="Calibri"/>
              </a:rPr>
              <a:t>AIMS shows one student at a time — </a:t>
            </a:r>
            <a:r>
              <a:rPr sz="1600">
                <a:solidFill>
                  <a:srgbClr val="2C3E3C"/>
                </a:solidFill>
                <a:latin typeface="Calibri"/>
              </a:rPr>
              <a:t>it cannot produce the cohort view needed to plan a term.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1">
                <a:solidFill>
                  <a:srgbClr val="1C9A59"/>
                </a:solidFill>
                <a:latin typeface="Calibri"/>
              </a:rPr>
              <a:t>▪  </a:t>
            </a:r>
            <a:r>
              <a:rPr sz="1600" b="1">
                <a:solidFill>
                  <a:srgbClr val="2C3E3C"/>
                </a:solidFill>
                <a:latin typeface="Calibri"/>
              </a:rPr>
              <a:t>The workbook records completion only — </a:t>
            </a:r>
            <a:r>
              <a:rPr sz="1600">
                <a:solidFill>
                  <a:srgbClr val="2C3E3C"/>
                </a:solidFill>
                <a:latin typeface="Calibri"/>
              </a:rPr>
              <a:t>a blank cell cannot say enrolled, incomplete, failed or withdrawn.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1">
                <a:solidFill>
                  <a:srgbClr val="1C9A59"/>
                </a:solidFill>
                <a:latin typeface="Calibri"/>
              </a:rPr>
              <a:t>▪  </a:t>
            </a:r>
            <a:r>
              <a:rPr sz="1600" b="1">
                <a:solidFill>
                  <a:srgbClr val="2C3E3C"/>
                </a:solidFill>
                <a:latin typeface="Calibri"/>
              </a:rPr>
              <a:t>Nothing records who acts next — </a:t>
            </a:r>
            <a:r>
              <a:rPr sz="1600">
                <a:solidFill>
                  <a:srgbClr val="2C3E3C"/>
                </a:solidFill>
                <a:latin typeface="Calibri"/>
              </a:rPr>
              <a:t>delay surfaces only when a student follows 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486400"/>
            <a:ext cx="5029200" cy="749808"/>
          </a:xfrm>
          <a:prstGeom prst="roundRect">
            <a:avLst>
              <a:gd name="adj" fmla="val 4500"/>
            </a:avLst>
          </a:prstGeom>
          <a:solidFill>
            <a:srgbClr val="EC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8096" y="5486400"/>
            <a:ext cx="462686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 i="0">
                <a:solidFill>
                  <a:srgbClr val="0F7A44"/>
                </a:solidFill>
                <a:latin typeface="Calibri"/>
              </a:rPr>
              <a:t>The portal adds coordination, audit and analytics on top of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 i="0">
                <a:solidFill>
                  <a:srgbClr val="0F7A44"/>
                </a:solidFill>
                <a:latin typeface="Calibri"/>
              </a:rPr>
              <a:t>the official record — it does not replace AIMS.</a:t>
            </a:r>
          </a:p>
        </p:txBody>
      </p:sp>
      <p:pic>
        <p:nvPicPr>
          <p:cNvPr id="10" name="Picture 9" descr="bz_01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920240"/>
            <a:ext cx="5669280" cy="36902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02336"/>
            <a:ext cx="54864" cy="237744"/>
          </a:xfrm>
          <a:prstGeom prst="rect">
            <a:avLst/>
          </a:prstGeom>
          <a:solidFill>
            <a:srgbClr val="1C9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8404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C9A59"/>
                </a:solidFill>
                <a:latin typeface="Arial"/>
              </a:rPr>
              <a:t>HOW THE SYSTEM IS ORGANISED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42826"/>
                </a:solidFill>
                <a:latin typeface="Arial"/>
              </a:rPr>
              <a:t>The conceptual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0" i="0">
                <a:solidFill>
                  <a:srgbClr val="5E716E"/>
                </a:solidFill>
                <a:latin typeface="Calibri"/>
              </a:rPr>
              <a:t>Seven modules linking the problems, inputs, features and outputs</a:t>
            </a:r>
          </a:p>
        </p:txBody>
      </p:sp>
      <p:pic>
        <p:nvPicPr>
          <p:cNvPr id="7" name="Picture 6" descr="FRAME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783080"/>
            <a:ext cx="9418320" cy="66587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14476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1" i="0">
                <a:solidFill>
                  <a:srgbClr val="0F7A44"/>
                </a:solidFill>
                <a:latin typeface="Calibri"/>
              </a:rPr>
              <a:t>The next seven slides take each module in turn and show the screen that implements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02336"/>
            <a:ext cx="54864" cy="237744"/>
          </a:xfrm>
          <a:prstGeom prst="rect">
            <a:avLst/>
          </a:prstGeom>
          <a:solidFill>
            <a:srgbClr val="1C9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8404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C9A59"/>
                </a:solidFill>
                <a:latin typeface="Arial"/>
              </a:rPr>
              <a:t>FRAMEWORK MAPPING  ·  1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42826"/>
                </a:solidFill>
                <a:latin typeface="Arial"/>
              </a:rPr>
              <a:t>Module 1: Student Progress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0" i="0">
                <a:solidFill>
                  <a:srgbClr val="5E716E"/>
                </a:solidFill>
                <a:latin typeface="Calibri"/>
              </a:rPr>
              <a:t>Framework definition, and the screen that implements it</a:t>
            </a:r>
          </a:p>
        </p:txBody>
      </p:sp>
      <p:pic>
        <p:nvPicPr>
          <p:cNvPr id="7" name="Picture 6" descr="MODUL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47088"/>
            <a:ext cx="4572000" cy="3232404"/>
          </a:xfrm>
          <a:prstGeom prst="rect">
            <a:avLst/>
          </a:prstGeom>
        </p:spPr>
      </p:pic>
      <p:pic>
        <p:nvPicPr>
          <p:cNvPr id="8" name="Picture 7" descr="bz_06-monitoring-she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847088"/>
            <a:ext cx="6144768" cy="39997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504688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C9A59"/>
                </a:solidFill>
                <a:latin typeface="Calibri"/>
              </a:rPr>
              <a:t>▪  </a:t>
            </a:r>
            <a:r>
              <a:rPr sz="1250" b="1">
                <a:solidFill>
                  <a:srgbClr val="2C3E3C"/>
                </a:solidFill>
                <a:latin typeface="Calibri"/>
              </a:rPr>
              <a:t>Monitoring sheet — </a:t>
            </a:r>
            <a:r>
              <a:rPr sz="1250">
                <a:solidFill>
                  <a:srgbClr val="2C3E3C"/>
                </a:solidFill>
                <a:latin typeface="Calibri"/>
              </a:rPr>
              <a:t>one consolidated cohort view: a row per student, a column per subject, filtered by program, term, progress, risk and standing.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C9A59"/>
                </a:solidFill>
                <a:latin typeface="Calibri"/>
              </a:rPr>
              <a:t>▪  </a:t>
            </a:r>
            <a:r>
              <a:rPr sz="1250" b="1">
                <a:solidFill>
                  <a:srgbClr val="2C3E3C"/>
                </a:solidFill>
                <a:latin typeface="Calibri"/>
              </a:rPr>
              <a:t>Curriculum tagging and study plan generation — </a:t>
            </a:r>
            <a:r>
              <a:rPr sz="1250">
                <a:solidFill>
                  <a:srgbClr val="2C3E3C"/>
                </a:solidFill>
                <a:latin typeface="Calibri"/>
              </a:rPr>
              <a:t>the student is tagged to a curriculum version, and the study plan is derived from the curriculum audit.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C9A59"/>
                </a:solidFill>
                <a:latin typeface="Calibri"/>
              </a:rPr>
              <a:t>▪  </a:t>
            </a:r>
            <a:r>
              <a:rPr sz="1250" b="1">
                <a:solidFill>
                  <a:srgbClr val="2C3E3C"/>
                </a:solidFill>
                <a:latin typeface="Calibri"/>
              </a:rPr>
              <a:t>Readiness checks — </a:t>
            </a:r>
            <a:r>
              <a:rPr sz="1250">
                <a:solidFill>
                  <a:srgbClr val="2C3E3C"/>
                </a:solidFill>
                <a:latin typeface="Calibri"/>
              </a:rPr>
              <a:t>comprehensive-exam and research eligibility computed from recorded completion.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02336"/>
            <a:ext cx="54864" cy="237744"/>
          </a:xfrm>
          <a:prstGeom prst="rect">
            <a:avLst/>
          </a:prstGeom>
          <a:solidFill>
            <a:srgbClr val="1C9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8404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C9A59"/>
                </a:solidFill>
                <a:latin typeface="Arial"/>
              </a:rPr>
              <a:t>FRAMEWORK MAPPING  ·  2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42826"/>
                </a:solidFill>
                <a:latin typeface="Arial"/>
              </a:rPr>
              <a:t>Module 2: Case Status and Action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0" i="0">
                <a:solidFill>
                  <a:srgbClr val="5E716E"/>
                </a:solidFill>
                <a:latin typeface="Calibri"/>
              </a:rPr>
              <a:t>Framework definition, and the screen that implements it</a:t>
            </a:r>
          </a:p>
        </p:txBody>
      </p:sp>
      <p:pic>
        <p:nvPicPr>
          <p:cNvPr id="7" name="Picture 6" descr="MODUL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47088"/>
            <a:ext cx="4572000" cy="3232404"/>
          </a:xfrm>
          <a:prstGeom prst="rect">
            <a:avLst/>
          </a:prstGeom>
        </p:spPr>
      </p:pic>
      <p:pic>
        <p:nvPicPr>
          <p:cNvPr id="8" name="Picture 7" descr="bz_20-withdraw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847088"/>
            <a:ext cx="6144768" cy="39997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504688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C9A59"/>
                </a:solidFill>
                <a:latin typeface="Calibri"/>
              </a:rPr>
              <a:t>▪  </a:t>
            </a:r>
            <a:r>
              <a:rPr sz="1250" b="1">
                <a:solidFill>
                  <a:srgbClr val="2C3E3C"/>
                </a:solidFill>
                <a:latin typeface="Calibri"/>
              </a:rPr>
              <a:t>Every process runs as a board by stage — </a:t>
            </a:r>
            <a:r>
              <a:rPr sz="1250">
                <a:solidFill>
                  <a:srgbClr val="2C3E3C"/>
                </a:solidFill>
                <a:latin typeface="Calibri"/>
              </a:rPr>
              <a:t>submitted, review, returned, tagging — so the current owner is visible at a glance.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C9A59"/>
                </a:solidFill>
                <a:latin typeface="Calibri"/>
              </a:rPr>
              <a:t>▪  </a:t>
            </a:r>
            <a:r>
              <a:rPr sz="1250" b="1">
                <a:solidFill>
                  <a:srgbClr val="2C3E3C"/>
                </a:solidFill>
                <a:latin typeface="Calibri"/>
              </a:rPr>
              <a:t>Task assignment and queue — </a:t>
            </a:r>
            <a:r>
              <a:rPr sz="1250">
                <a:solidFill>
                  <a:srgbClr val="2C3E3C"/>
                </a:solidFill>
                <a:latin typeface="Calibri"/>
              </a:rPr>
              <a:t>each open case names the role that owns the next action.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C9A59"/>
                </a:solidFill>
                <a:latin typeface="Calibri"/>
              </a:rPr>
              <a:t>▪  </a:t>
            </a:r>
            <a:r>
              <a:rPr sz="1250" b="1">
                <a:solidFill>
                  <a:srgbClr val="2C3E3C"/>
                </a:solidFill>
                <a:latin typeface="Calibri"/>
              </a:rPr>
              <a:t>Activity log — </a:t>
            </a:r>
            <a:r>
              <a:rPr sz="1250">
                <a:solidFill>
                  <a:srgbClr val="2C3E3C"/>
                </a:solidFill>
                <a:latin typeface="Calibri"/>
              </a:rPr>
              <a:t>every decision, handoff and status change is recorded with actor, timestamp and previous value.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02336"/>
            <a:ext cx="54864" cy="237744"/>
          </a:xfrm>
          <a:prstGeom prst="rect">
            <a:avLst/>
          </a:prstGeom>
          <a:solidFill>
            <a:srgbClr val="1C9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8404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C9A59"/>
                </a:solidFill>
                <a:latin typeface="Arial"/>
              </a:rPr>
              <a:t>FRAMEWORK MAPPING  ·  3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42826"/>
                </a:solidFill>
                <a:latin typeface="Arial"/>
              </a:rPr>
              <a:t>Module 3: Defense Scheduling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0" i="0">
                <a:solidFill>
                  <a:srgbClr val="5E716E"/>
                </a:solidFill>
                <a:latin typeface="Calibri"/>
              </a:rPr>
              <a:t>Framework definition, and the screen that implements it</a:t>
            </a:r>
          </a:p>
        </p:txBody>
      </p:sp>
      <p:pic>
        <p:nvPicPr>
          <p:cNvPr id="7" name="Picture 6" descr="MODUL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47088"/>
            <a:ext cx="4572000" cy="3232404"/>
          </a:xfrm>
          <a:prstGeom prst="rect">
            <a:avLst/>
          </a:prstGeom>
        </p:spPr>
      </p:pic>
      <p:pic>
        <p:nvPicPr>
          <p:cNvPr id="8" name="Picture 7" descr="bz_14-defense-schedul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847088"/>
            <a:ext cx="6144768" cy="39997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504688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C9A59"/>
                </a:solidFill>
                <a:latin typeface="Calibri"/>
              </a:rPr>
              <a:t>▪  </a:t>
            </a:r>
            <a:r>
              <a:rPr sz="1250" b="1">
                <a:solidFill>
                  <a:srgbClr val="2C3E3C"/>
                </a:solidFill>
                <a:latin typeface="Calibri"/>
              </a:rPr>
              <a:t>Scheduling requests — </a:t>
            </a:r>
            <a:r>
              <a:rPr sz="1250">
                <a:solidFill>
                  <a:srgbClr val="2C3E3C"/>
                </a:solidFill>
                <a:latin typeface="Calibri"/>
              </a:rPr>
              <a:t>a common slot is proposed only where the student and every panel member are free.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C9A59"/>
                </a:solidFill>
                <a:latin typeface="Calibri"/>
              </a:rPr>
              <a:t>▪  </a:t>
            </a:r>
            <a:r>
              <a:rPr sz="1250" b="1">
                <a:solidFill>
                  <a:srgbClr val="2C3E3C"/>
                </a:solidFill>
                <a:latin typeface="Calibri"/>
              </a:rPr>
              <a:t>Availability data — </a:t>
            </a:r>
            <a:r>
              <a:rPr sz="1250">
                <a:solidFill>
                  <a:srgbClr val="2C3E3C"/>
                </a:solidFill>
                <a:latin typeface="Calibri"/>
              </a:rPr>
              <a:t>recurring faculty working hours, plus a faculty member's own connected calendar.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C9A59"/>
                </a:solidFill>
                <a:latin typeface="Calibri"/>
              </a:rPr>
              <a:t>▪  </a:t>
            </a:r>
            <a:r>
              <a:rPr sz="1250" b="1">
                <a:solidFill>
                  <a:srgbClr val="2C3E3C"/>
                </a:solidFill>
                <a:latin typeface="Calibri"/>
              </a:rPr>
              <a:t>Fails closed — </a:t>
            </a:r>
            <a:r>
              <a:rPr sz="1250">
                <a:solidFill>
                  <a:srgbClr val="2C3E3C"/>
                </a:solidFill>
                <a:latin typeface="Calibri"/>
              </a:rPr>
              <a:t>where availability cannot be established the system reports it rather than proposing a slot it cannot support.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02336"/>
            <a:ext cx="54864" cy="237744"/>
          </a:xfrm>
          <a:prstGeom prst="rect">
            <a:avLst/>
          </a:prstGeom>
          <a:solidFill>
            <a:srgbClr val="1C9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8404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C9A59"/>
                </a:solidFill>
                <a:latin typeface="Arial"/>
              </a:rPr>
              <a:t>FRAMEWORK MAPPING  ·  4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42826"/>
                </a:solidFill>
                <a:latin typeface="Arial"/>
              </a:rPr>
              <a:t>Module 4: Case Monitoring and Follow-Up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0" i="0">
                <a:solidFill>
                  <a:srgbClr val="5E716E"/>
                </a:solidFill>
                <a:latin typeface="Calibri"/>
              </a:rPr>
              <a:t>Framework definition, and the screen that implements it</a:t>
            </a:r>
          </a:p>
        </p:txBody>
      </p:sp>
      <p:pic>
        <p:nvPicPr>
          <p:cNvPr id="7" name="Picture 6" descr="MODUL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47088"/>
            <a:ext cx="4572000" cy="3232404"/>
          </a:xfrm>
          <a:prstGeom prst="rect">
            <a:avLst/>
          </a:prstGeom>
        </p:spPr>
      </p:pic>
      <p:pic>
        <p:nvPicPr>
          <p:cNvPr id="8" name="Picture 7" descr="bz_21-work-que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847088"/>
            <a:ext cx="6144768" cy="39997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504688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C9A59"/>
                </a:solidFill>
                <a:latin typeface="Calibri"/>
              </a:rPr>
              <a:t>▪  </a:t>
            </a:r>
            <a:r>
              <a:rPr sz="1250" b="1">
                <a:solidFill>
                  <a:srgbClr val="2C3E3C"/>
                </a:solidFill>
                <a:latin typeface="Calibri"/>
              </a:rPr>
              <a:t>Queue aging — </a:t>
            </a:r>
            <a:r>
              <a:rPr sz="1250">
                <a:solidFill>
                  <a:srgbClr val="2C3E3C"/>
                </a:solidFill>
                <a:latin typeface="Calibri"/>
              </a:rPr>
              <a:t>open cases per process area, bucketed by age, with the oldest case named.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C9A59"/>
                </a:solidFill>
                <a:latin typeface="Calibri"/>
              </a:rPr>
              <a:t>▪  </a:t>
            </a:r>
            <a:r>
              <a:rPr sz="1250" b="1">
                <a:solidFill>
                  <a:srgbClr val="2C3E3C"/>
                </a:solidFill>
                <a:latin typeface="Calibri"/>
              </a:rPr>
              <a:t>Overdue tasks and escalation — </a:t>
            </a:r>
            <a:r>
              <a:rPr sz="1250">
                <a:solidFill>
                  <a:srgbClr val="2C3E3C"/>
                </a:solidFill>
                <a:latin typeface="Calibri"/>
              </a:rPr>
              <a:t>open work items with the owning role and the time outstanding.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C9A59"/>
                </a:solidFill>
                <a:latin typeface="Calibri"/>
              </a:rPr>
              <a:t>▪  </a:t>
            </a:r>
            <a:r>
              <a:rPr sz="1250" b="1">
                <a:solidFill>
                  <a:srgbClr val="2C3E3C"/>
                </a:solidFill>
                <a:latin typeface="Calibri"/>
              </a:rPr>
              <a:t>Follow-up closure — </a:t>
            </a:r>
            <a:r>
              <a:rPr sz="1250">
                <a:solidFill>
                  <a:srgbClr val="2C3E3C"/>
                </a:solidFill>
                <a:latin typeface="Calibri"/>
              </a:rPr>
              <a:t>the proportion of flagged cases carrying a recorded follow-up and closure, computed live.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02336"/>
            <a:ext cx="54864" cy="237744"/>
          </a:xfrm>
          <a:prstGeom prst="rect">
            <a:avLst/>
          </a:prstGeom>
          <a:solidFill>
            <a:srgbClr val="1C9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8404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C9A59"/>
                </a:solidFill>
                <a:latin typeface="Arial"/>
              </a:rPr>
              <a:t>FRAMEWORK MAPPING  ·  5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42826"/>
                </a:solidFill>
                <a:latin typeface="Arial"/>
              </a:rPr>
              <a:t>Module 5: Analytics and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0" i="0">
                <a:solidFill>
                  <a:srgbClr val="5E716E"/>
                </a:solidFill>
                <a:latin typeface="Calibri"/>
              </a:rPr>
              <a:t>Framework definition, and the screen that implements it</a:t>
            </a:r>
          </a:p>
        </p:txBody>
      </p:sp>
      <p:pic>
        <p:nvPicPr>
          <p:cNvPr id="7" name="Picture 6" descr="MODUL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47088"/>
            <a:ext cx="4572000" cy="3232404"/>
          </a:xfrm>
          <a:prstGeom prst="rect">
            <a:avLst/>
          </a:prstGeom>
        </p:spPr>
      </p:pic>
      <p:pic>
        <p:nvPicPr>
          <p:cNvPr id="8" name="Picture 7" descr="bz_60-analyt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847088"/>
            <a:ext cx="6144768" cy="39997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504688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C9A59"/>
                </a:solidFill>
                <a:latin typeface="Calibri"/>
              </a:rPr>
              <a:t>▪  </a:t>
            </a:r>
            <a:r>
              <a:rPr sz="1250" b="1">
                <a:solidFill>
                  <a:srgbClr val="2C3E3C"/>
                </a:solidFill>
                <a:latin typeface="Calibri"/>
              </a:rPr>
              <a:t>Seven analytics reports — </a:t>
            </a:r>
            <a:r>
              <a:rPr sz="1250">
                <a:solidFill>
                  <a:srgbClr val="2C3E3C"/>
                </a:solidFill>
                <a:latin typeface="Calibri"/>
              </a:rPr>
              <a:t>queue aging, stage bottlenecks, workload and turnaround, residency watchlist, completion and attrition, scheduling cycle time, follow-up closure.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C9A59"/>
                </a:solidFill>
                <a:latin typeface="Calibri"/>
              </a:rPr>
              <a:t>▪  </a:t>
            </a:r>
            <a:r>
              <a:rPr sz="1250" b="1">
                <a:solidFill>
                  <a:srgbClr val="2C3E3C"/>
                </a:solidFill>
                <a:latin typeface="Calibri"/>
              </a:rPr>
              <a:t>Computed from event history — </a:t>
            </a:r>
            <a:r>
              <a:rPr sz="1250">
                <a:solidFill>
                  <a:srgbClr val="2C3E3C"/>
                </a:solidFill>
                <a:latin typeface="Calibri"/>
              </a:rPr>
              <a:t>timestamps, ownership and decision outcomes, not manually maintained status fields.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C9A59"/>
                </a:solidFill>
                <a:latin typeface="Calibri"/>
              </a:rPr>
              <a:t>▪  </a:t>
            </a:r>
            <a:r>
              <a:rPr sz="1250" b="1">
                <a:solidFill>
                  <a:srgbClr val="2C3E3C"/>
                </a:solidFill>
                <a:latin typeface="Calibri"/>
              </a:rPr>
              <a:t>Answers the framework's decision questions — </a:t>
            </a:r>
            <a:r>
              <a:rPr sz="1250">
                <a:solidFill>
                  <a:srgbClr val="2C3E3C"/>
                </a:solidFill>
                <a:latin typeface="Calibri"/>
              </a:rPr>
              <a:t>who is at risk, where delay accumulates, which programs lose students.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02336"/>
            <a:ext cx="54864" cy="237744"/>
          </a:xfrm>
          <a:prstGeom prst="rect">
            <a:avLst/>
          </a:prstGeom>
          <a:solidFill>
            <a:srgbClr val="1C9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8404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C9A59"/>
                </a:solidFill>
                <a:latin typeface="Arial"/>
              </a:rPr>
              <a:t>FRAMEWORK MAPPING  ·  6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42826"/>
                </a:solidFill>
                <a:latin typeface="Arial"/>
              </a:rPr>
              <a:t>Module 6: Policy and Case Guidance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0" i="0">
                <a:solidFill>
                  <a:srgbClr val="5E716E"/>
                </a:solidFill>
                <a:latin typeface="Calibri"/>
              </a:rPr>
              <a:t>Framework definition, and the screen that implements it</a:t>
            </a:r>
          </a:p>
        </p:txBody>
      </p:sp>
      <p:pic>
        <p:nvPicPr>
          <p:cNvPr id="7" name="Picture 6" descr="MODUL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47088"/>
            <a:ext cx="4572000" cy="3232404"/>
          </a:xfrm>
          <a:prstGeom prst="rect">
            <a:avLst/>
          </a:prstGeom>
        </p:spPr>
      </p:pic>
      <p:pic>
        <p:nvPicPr>
          <p:cNvPr id="8" name="Picture 7" descr="bz_24-policy-assista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847088"/>
            <a:ext cx="6144768" cy="39997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504688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C9A59"/>
                </a:solidFill>
                <a:latin typeface="Calibri"/>
              </a:rPr>
              <a:t>▪  </a:t>
            </a:r>
            <a:r>
              <a:rPr sz="1250" b="1">
                <a:solidFill>
                  <a:srgbClr val="2C3E3C"/>
                </a:solidFill>
                <a:latin typeface="Calibri"/>
              </a:rPr>
              <a:t>Policy Assistant — </a:t>
            </a:r>
            <a:r>
              <a:rPr sz="1250">
                <a:solidFill>
                  <a:srgbClr val="2C3E3C"/>
                </a:solidFill>
                <a:latin typeface="Calibri"/>
              </a:rPr>
              <a:t>answers policy questions from indexed Graduate School documents using retrieval, so answers stay grounded in the source.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C9A59"/>
                </a:solidFill>
                <a:latin typeface="Calibri"/>
              </a:rPr>
              <a:t>▪  </a:t>
            </a:r>
            <a:r>
              <a:rPr sz="1250" b="1">
                <a:solidFill>
                  <a:srgbClr val="2C3E3C"/>
                </a:solidFill>
                <a:latin typeface="Calibri"/>
              </a:rPr>
              <a:t>Routes to verified reports — </a:t>
            </a:r>
            <a:r>
              <a:rPr sz="1250">
                <a:solidFill>
                  <a:srgbClr val="2C3E3C"/>
                </a:solidFill>
                <a:latin typeface="Calibri"/>
              </a:rPr>
              <a:t>a question that is really a request for an operational figure is answered from the reports, not generated.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C9A59"/>
                </a:solidFill>
                <a:latin typeface="Calibri"/>
              </a:rPr>
              <a:t>▪  </a:t>
            </a:r>
            <a:r>
              <a:rPr sz="1250" b="1">
                <a:solidFill>
                  <a:srgbClr val="2C3E3C"/>
                </a:solidFill>
                <a:latin typeface="Calibri"/>
              </a:rPr>
              <a:t>Scoped by role — </a:t>
            </a:r>
            <a:r>
              <a:rPr sz="1250">
                <a:solidFill>
                  <a:srgbClr val="2C3E3C"/>
                </a:solidFill>
                <a:latin typeface="Calibri"/>
              </a:rPr>
              <a:t>a student cannot obtain staff-only information through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02336"/>
            <a:ext cx="54864" cy="237744"/>
          </a:xfrm>
          <a:prstGeom prst="rect">
            <a:avLst/>
          </a:prstGeom>
          <a:solidFill>
            <a:srgbClr val="1C9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8404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C9A59"/>
                </a:solidFill>
                <a:latin typeface="Arial"/>
              </a:rPr>
              <a:t>FRAMEWORK MAPPING  ·  7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42826"/>
                </a:solidFill>
                <a:latin typeface="Arial"/>
              </a:rPr>
              <a:t>Module 7: Reporting and Dashboards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0" i="0">
                <a:solidFill>
                  <a:srgbClr val="5E716E"/>
                </a:solidFill>
                <a:latin typeface="Calibri"/>
              </a:rPr>
              <a:t>Framework definition, and the screen that implements it</a:t>
            </a:r>
          </a:p>
        </p:txBody>
      </p:sp>
      <p:pic>
        <p:nvPicPr>
          <p:cNvPr id="7" name="Picture 6" descr="MODUL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47088"/>
            <a:ext cx="4572000" cy="3232404"/>
          </a:xfrm>
          <a:prstGeom prst="rect">
            <a:avLst/>
          </a:prstGeom>
        </p:spPr>
      </p:pic>
      <p:pic>
        <p:nvPicPr>
          <p:cNvPr id="8" name="Picture 7" descr="bz_02-repor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847088"/>
            <a:ext cx="6144768" cy="39997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504688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C9A59"/>
                </a:solidFill>
                <a:latin typeface="Calibri"/>
              </a:rPr>
              <a:t>▪  </a:t>
            </a:r>
            <a:r>
              <a:rPr sz="1250" b="1">
                <a:solidFill>
                  <a:srgbClr val="2C3E3C"/>
                </a:solidFill>
                <a:latin typeface="Calibri"/>
              </a:rPr>
              <a:t>Seventeen reports — </a:t>
            </a:r>
            <a:r>
              <a:rPr sz="1250">
                <a:solidFill>
                  <a:srgbClr val="2C3E3C"/>
                </a:solidFill>
                <a:latin typeface="Calibri"/>
              </a:rPr>
              <a:t>ten operational and seven analytics, each filtered by program, progress, risk, standing and workflow.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C9A59"/>
                </a:solidFill>
                <a:latin typeface="Calibri"/>
              </a:rPr>
              <a:t>▪  </a:t>
            </a:r>
            <a:r>
              <a:rPr sz="1250" b="1">
                <a:solidFill>
                  <a:srgbClr val="2C3E3C"/>
                </a:solidFill>
                <a:latin typeface="Calibri"/>
              </a:rPr>
              <a:t>Live dashboard — </a:t>
            </a:r>
            <a:r>
              <a:rPr sz="1250">
                <a:solidFill>
                  <a:srgbClr val="2C3E3C"/>
                </a:solidFill>
                <a:latin typeface="Calibri"/>
              </a:rPr>
              <a:t>every figure computed from recorded transactions rather than entered.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C9A59"/>
                </a:solidFill>
                <a:latin typeface="Calibri"/>
              </a:rPr>
              <a:t>▪  </a:t>
            </a:r>
            <a:r>
              <a:rPr sz="1250" b="1">
                <a:solidFill>
                  <a:srgbClr val="2C3E3C"/>
                </a:solidFill>
                <a:latin typeface="Calibri"/>
              </a:rPr>
              <a:t>Exports — </a:t>
            </a:r>
            <a:r>
              <a:rPr sz="1250">
                <a:solidFill>
                  <a:srgbClr val="2C3E3C"/>
                </a:solidFill>
                <a:latin typeface="Calibri"/>
              </a:rPr>
              <a:t>CSV and Excel for the monitoring sheet, endorsement list, approved withdrawals and Registrar documents.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02336"/>
            <a:ext cx="54864" cy="237744"/>
          </a:xfrm>
          <a:prstGeom prst="rect">
            <a:avLst/>
          </a:prstGeom>
          <a:solidFill>
            <a:srgbClr val="1C9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8404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C9A59"/>
                </a:solidFill>
                <a:latin typeface="Arial"/>
              </a:rPr>
              <a:t>80% JUSTIFICATION  ·  1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42826"/>
                </a:solidFill>
                <a:latin typeface="Arial"/>
              </a:rPr>
              <a:t>Coverage against our 12 BPMN process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0" i="0">
                <a:solidFill>
                  <a:srgbClr val="5E716E"/>
                </a:solidFill>
                <a:latin typeface="Calibri"/>
              </a:rPr>
              <a:t>Every approved process model, and the screen that runs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47088"/>
            <a:ext cx="11430000" cy="320040"/>
          </a:xfrm>
          <a:prstGeom prst="rect">
            <a:avLst/>
          </a:prstGeom>
          <a:solidFill>
            <a:srgbClr val="0E4442"/>
          </a:solidFill>
          <a:ln w="6350">
            <a:solidFill>
              <a:srgbClr val="DD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847088"/>
            <a:ext cx="26334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Process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1847088"/>
            <a:ext cx="65196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the system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32136" y="1847088"/>
            <a:ext cx="167335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167128"/>
            <a:ext cx="11430000" cy="320040"/>
          </a:xfrm>
          <a:prstGeom prst="rect">
            <a:avLst/>
          </a:prstGeom>
          <a:solidFill>
            <a:srgbClr val="F3F9F6"/>
          </a:solidFill>
          <a:ln w="6350">
            <a:solidFill>
              <a:srgbClr val="DD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167128"/>
            <a:ext cx="26334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C3E3C"/>
                </a:solidFill>
                <a:latin typeface="Calibri"/>
              </a:rPr>
              <a:t>1  Admission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2167128"/>
            <a:ext cx="65196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C3E3C"/>
                </a:solidFill>
                <a:latin typeface="Calibri"/>
              </a:rPr>
              <a:t>Import, validation, onboarding checklist, Dean approval, admission completion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32136" y="2167128"/>
            <a:ext cx="167335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0F7A44"/>
                </a:solidFill>
                <a:latin typeface="Calibri"/>
              </a:rPr>
              <a:t>Implemented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487168"/>
            <a:ext cx="11430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487168"/>
            <a:ext cx="26334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C3E3C"/>
                </a:solidFill>
                <a:latin typeface="Calibri"/>
              </a:rPr>
              <a:t>2  Enrollment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2487168"/>
            <a:ext cx="65196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C3E3C"/>
                </a:solidFill>
                <a:latin typeface="Calibri"/>
              </a:rPr>
              <a:t>Class-list import, search-and-tag, curriculum version, study plan draft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32136" y="2487168"/>
            <a:ext cx="167335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0F7A44"/>
                </a:solidFill>
                <a:latin typeface="Calibri"/>
              </a:rPr>
              <a:t>Implemented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807208"/>
            <a:ext cx="11430000" cy="320040"/>
          </a:xfrm>
          <a:prstGeom prst="rect">
            <a:avLst/>
          </a:prstGeom>
          <a:solidFill>
            <a:srgbClr val="F3F9F6"/>
          </a:solidFill>
          <a:ln w="6350">
            <a:solidFill>
              <a:srgbClr val="DD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2807208"/>
            <a:ext cx="26334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C3E3C"/>
                </a:solidFill>
                <a:latin typeface="Calibri"/>
              </a:rPr>
              <a:t>3  Course Adjustments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1296" y="2807208"/>
            <a:ext cx="65196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C3E3C"/>
                </a:solidFill>
                <a:latin typeface="Calibri"/>
              </a:rPr>
              <a:t>Subject demand, offering setup, Dean approval of the 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32136" y="2807208"/>
            <a:ext cx="167335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0F7A44"/>
                </a:solidFill>
                <a:latin typeface="Calibri"/>
              </a:rPr>
              <a:t>Implemented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127248"/>
            <a:ext cx="11430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3127248"/>
            <a:ext cx="26334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C3E3C"/>
                </a:solidFill>
                <a:latin typeface="Calibri"/>
              </a:rPr>
              <a:t>4  Coursework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11296" y="3127248"/>
            <a:ext cx="65196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C3E3C"/>
                </a:solidFill>
                <a:latin typeface="Calibri"/>
              </a:rPr>
              <a:t>Status vocabulary, monitoring sheet, flags, Dean coursework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32136" y="3127248"/>
            <a:ext cx="167335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0F7A44"/>
                </a:solidFill>
                <a:latin typeface="Calibri"/>
              </a:rPr>
              <a:t>Implemented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447288"/>
            <a:ext cx="11430000" cy="320040"/>
          </a:xfrm>
          <a:prstGeom prst="rect">
            <a:avLst/>
          </a:prstGeom>
          <a:solidFill>
            <a:srgbClr val="F3F9F6"/>
          </a:solidFill>
          <a:ln w="6350">
            <a:solidFill>
              <a:srgbClr val="DD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3447288"/>
            <a:ext cx="26334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C3E3C"/>
                </a:solidFill>
                <a:latin typeface="Calibri"/>
              </a:rPr>
              <a:t>5  LOA &amp; Readmission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11296" y="3447288"/>
            <a:ext cx="65196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C3E3C"/>
                </a:solidFill>
                <a:latin typeface="Calibri"/>
              </a:rPr>
              <a:t>Prior-leave check, Dean decision, Registrar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32136" y="3447288"/>
            <a:ext cx="167335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0F7A44"/>
                </a:solidFill>
                <a:latin typeface="Calibri"/>
              </a:rPr>
              <a:t>Implemented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767328"/>
            <a:ext cx="11430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3767328"/>
            <a:ext cx="26334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C3E3C"/>
                </a:solidFill>
                <a:latin typeface="Calibri"/>
              </a:rPr>
              <a:t>6  Title Defense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11296" y="3767328"/>
            <a:ext cx="65196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C3E3C"/>
                </a:solidFill>
                <a:latin typeface="Calibri"/>
              </a:rPr>
              <a:t>Research gate, Form 1 endorsement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32136" y="3767328"/>
            <a:ext cx="167335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0F7A44"/>
                </a:solidFill>
                <a:latin typeface="Calibri"/>
              </a:rPr>
              <a:t>Implemented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4087368"/>
            <a:ext cx="11430000" cy="320040"/>
          </a:xfrm>
          <a:prstGeom prst="rect">
            <a:avLst/>
          </a:prstGeom>
          <a:solidFill>
            <a:srgbClr val="F3F9F6"/>
          </a:solidFill>
          <a:ln w="6350">
            <a:solidFill>
              <a:srgbClr val="DD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" y="4087368"/>
            <a:ext cx="26334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C3E3C"/>
                </a:solidFill>
                <a:latin typeface="Calibri"/>
              </a:rPr>
              <a:t>7  Advisor Designation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11296" y="4087368"/>
            <a:ext cx="65196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C3E3C"/>
                </a:solidFill>
                <a:latin typeface="Calibri"/>
              </a:rPr>
              <a:t>Adviser assignment and document approvals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32136" y="4087368"/>
            <a:ext cx="167335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0F7A44"/>
                </a:solidFill>
                <a:latin typeface="Calibri"/>
              </a:rPr>
              <a:t>Implemented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407407"/>
            <a:ext cx="11430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" y="4407407"/>
            <a:ext cx="26334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C3E3C"/>
                </a:solidFill>
                <a:latin typeface="Calibri"/>
              </a:rPr>
              <a:t>8  Defense Scheduling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11296" y="4407407"/>
            <a:ext cx="65196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C3E3C"/>
                </a:solidFill>
                <a:latin typeface="Calibri"/>
              </a:rPr>
              <a:t>Availability, lead time, reschedule tracking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32136" y="4407407"/>
            <a:ext cx="167335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0F7A44"/>
                </a:solidFill>
                <a:latin typeface="Calibri"/>
              </a:rPr>
              <a:t>Implemented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4727447"/>
            <a:ext cx="11430000" cy="320040"/>
          </a:xfrm>
          <a:prstGeom prst="rect">
            <a:avLst/>
          </a:prstGeom>
          <a:solidFill>
            <a:srgbClr val="F3F9F6"/>
          </a:solidFill>
          <a:ln w="6350">
            <a:solidFill>
              <a:srgbClr val="DD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" y="4727447"/>
            <a:ext cx="26334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C3E3C"/>
                </a:solidFill>
                <a:latin typeface="Calibri"/>
              </a:rPr>
              <a:t>9  Defense &amp; Revisions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11296" y="4727447"/>
            <a:ext cx="65196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C3E3C"/>
                </a:solidFill>
                <a:latin typeface="Calibri"/>
              </a:rPr>
              <a:t>Verdicts and revision cycles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32136" y="4727447"/>
            <a:ext cx="167335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0F7A44"/>
                </a:solidFill>
                <a:latin typeface="Calibri"/>
              </a:rPr>
              <a:t>Implemented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5047487"/>
            <a:ext cx="11430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6656" y="5047487"/>
            <a:ext cx="26334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C3E3C"/>
                </a:solidFill>
                <a:latin typeface="Calibri"/>
              </a:rPr>
              <a:t>10  Practicum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11296" y="5047487"/>
            <a:ext cx="65196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C3E3C"/>
                </a:solidFill>
                <a:latin typeface="Calibri"/>
              </a:rPr>
              <a:t>MOA, hours across certificates, review chain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32136" y="5047487"/>
            <a:ext cx="167335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0F7A44"/>
                </a:solidFill>
                <a:latin typeface="Calibri"/>
              </a:rPr>
              <a:t>Implemented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5367527"/>
            <a:ext cx="11430000" cy="320040"/>
          </a:xfrm>
          <a:prstGeom prst="rect">
            <a:avLst/>
          </a:prstGeom>
          <a:solidFill>
            <a:srgbClr val="F3F9F6"/>
          </a:solidFill>
          <a:ln w="6350">
            <a:solidFill>
              <a:srgbClr val="DD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6656" y="5367527"/>
            <a:ext cx="26334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C3E3C"/>
                </a:solidFill>
                <a:latin typeface="Calibri"/>
              </a:rPr>
              <a:t>11  Withdrawal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11296" y="5367527"/>
            <a:ext cx="65196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C3E3C"/>
                </a:solidFill>
                <a:latin typeface="Calibri"/>
              </a:rPr>
              <a:t>Subject-level, 7-day window, Dean, Excel export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32136" y="5367527"/>
            <a:ext cx="167335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0F7A44"/>
                </a:solidFill>
                <a:latin typeface="Calibri"/>
              </a:rPr>
              <a:t>Implemented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" y="5687567"/>
            <a:ext cx="114300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6656" y="5687567"/>
            <a:ext cx="26334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C3E3C"/>
                </a:solidFill>
                <a:latin typeface="Calibri"/>
              </a:rPr>
              <a:t>12  Graduation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11296" y="5687567"/>
            <a:ext cx="65196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C3E3C"/>
                </a:solidFill>
                <a:latin typeface="Calibri"/>
              </a:rPr>
              <a:t>Eligibility, batches, Dean approval, CSV export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32136" y="5687567"/>
            <a:ext cx="167335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0F7A44"/>
                </a:solidFill>
                <a:latin typeface="Calibri"/>
              </a:rPr>
              <a:t>Implemented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66928" y="6144768"/>
            <a:ext cx="11064240" cy="530352"/>
          </a:xfrm>
          <a:prstGeom prst="roundRect">
            <a:avLst>
              <a:gd name="adj" fmla="val 4500"/>
            </a:avLst>
          </a:prstGeom>
          <a:solidFill>
            <a:srgbClr val="EC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86384" y="6144768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 i="0">
                <a:solidFill>
                  <a:srgbClr val="0F7A44"/>
                </a:solidFill>
                <a:latin typeface="Calibri"/>
              </a:rPr>
              <a:t>All 12 process models implemented end to end — 71 automated tests, 70 passing.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02336"/>
            <a:ext cx="54864" cy="237744"/>
          </a:xfrm>
          <a:prstGeom prst="rect">
            <a:avLst/>
          </a:prstGeom>
          <a:solidFill>
            <a:srgbClr val="1C9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8404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C9A59"/>
                </a:solidFill>
                <a:latin typeface="Arial"/>
              </a:rPr>
              <a:t>80% JUSTIFICATION  ·  2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42826"/>
                </a:solidFill>
                <a:latin typeface="Arial"/>
              </a:rPr>
              <a:t>Coverage against the conceptual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0" i="0">
                <a:solidFill>
                  <a:srgbClr val="5E716E"/>
                </a:solidFill>
                <a:latin typeface="Calibri"/>
              </a:rPr>
              <a:t>The seven modules of the approved proposal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20240"/>
            <a:ext cx="11064240" cy="457200"/>
          </a:xfrm>
          <a:prstGeom prst="rect">
            <a:avLst/>
          </a:prstGeom>
          <a:solidFill>
            <a:srgbClr val="0E4442"/>
          </a:solidFill>
          <a:ln w="6350">
            <a:solidFill>
              <a:srgbClr val="DD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920240"/>
            <a:ext cx="31821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59936" y="1920240"/>
            <a:ext cx="56052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Implemented 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66376" y="1920240"/>
            <a:ext cx="167335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377440"/>
            <a:ext cx="11064240" cy="457200"/>
          </a:xfrm>
          <a:prstGeom prst="rect">
            <a:avLst/>
          </a:prstGeom>
          <a:solidFill>
            <a:srgbClr val="F3F9F6"/>
          </a:solidFill>
          <a:ln w="6350">
            <a:solidFill>
              <a:srgbClr val="DD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377440"/>
            <a:ext cx="31821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C3E3C"/>
                </a:solidFill>
                <a:latin typeface="Calibri"/>
              </a:rPr>
              <a:t>1  Student Progress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9936" y="2377440"/>
            <a:ext cx="56052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2C3E3C"/>
                </a:solidFill>
                <a:latin typeface="Calibri"/>
              </a:rPr>
              <a:t>Monitoring sheet, curriculum tag, study plan, student detail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66376" y="2377440"/>
            <a:ext cx="167335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0F7A44"/>
                </a:solidFill>
                <a:latin typeface="Calibri"/>
              </a:rPr>
              <a:t>Implemented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834640"/>
            <a:ext cx="11064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834640"/>
            <a:ext cx="31821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C3E3C"/>
                </a:solidFill>
                <a:latin typeface="Calibri"/>
              </a:rPr>
              <a:t>2  Case Status &amp; Action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9936" y="2834640"/>
            <a:ext cx="56052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2C3E3C"/>
                </a:solidFill>
                <a:latin typeface="Calibri"/>
              </a:rPr>
              <a:t>Workflow boards, work queue, activity 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66376" y="2834640"/>
            <a:ext cx="167335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0F7A44"/>
                </a:solidFill>
                <a:latin typeface="Calibri"/>
              </a:rPr>
              <a:t>Implemented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291840"/>
            <a:ext cx="11064240" cy="457200"/>
          </a:xfrm>
          <a:prstGeom prst="rect">
            <a:avLst/>
          </a:prstGeom>
          <a:solidFill>
            <a:srgbClr val="F3F9F6"/>
          </a:solidFill>
          <a:ln w="6350">
            <a:solidFill>
              <a:srgbClr val="DD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3291840"/>
            <a:ext cx="31821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C3E3C"/>
                </a:solidFill>
                <a:latin typeface="Calibri"/>
              </a:rPr>
              <a:t>3  Defense Scheduling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9936" y="3291840"/>
            <a:ext cx="56052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2C3E3C"/>
                </a:solidFill>
                <a:latin typeface="Calibri"/>
              </a:rPr>
              <a:t>Panel matching, scheduling, faculty availability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66376" y="3291840"/>
            <a:ext cx="167335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0F7A44"/>
                </a:solidFill>
                <a:latin typeface="Calibri"/>
              </a:rPr>
              <a:t>Implemented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749039"/>
            <a:ext cx="11064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3749039"/>
            <a:ext cx="31821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C3E3C"/>
                </a:solidFill>
                <a:latin typeface="Calibri"/>
              </a:rPr>
              <a:t>4  Case Monitoring &amp; Follow-Up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59936" y="3749039"/>
            <a:ext cx="56052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2C3E3C"/>
                </a:solidFill>
                <a:latin typeface="Calibri"/>
              </a:rPr>
              <a:t>Queue aging, overdue tasks, follow-up closure KPI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66376" y="3749039"/>
            <a:ext cx="167335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0F7A44"/>
                </a:solidFill>
                <a:latin typeface="Calibri"/>
              </a:rPr>
              <a:t>Implemented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206240"/>
            <a:ext cx="11064240" cy="457200"/>
          </a:xfrm>
          <a:prstGeom prst="rect">
            <a:avLst/>
          </a:prstGeom>
          <a:solidFill>
            <a:srgbClr val="F3F9F6"/>
          </a:solidFill>
          <a:ln w="6350">
            <a:solidFill>
              <a:srgbClr val="DD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4206240"/>
            <a:ext cx="31821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C3E3C"/>
                </a:solidFill>
                <a:latin typeface="Calibri"/>
              </a:rPr>
              <a:t>5  Analytics &amp; Decision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59936" y="4206240"/>
            <a:ext cx="56052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2C3E3C"/>
                </a:solidFill>
                <a:latin typeface="Calibri"/>
              </a:rPr>
              <a:t>7 analytics reports, recommendations, risk indicator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66376" y="4206240"/>
            <a:ext cx="167335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0F7A44"/>
                </a:solidFill>
                <a:latin typeface="Calibri"/>
              </a:rPr>
              <a:t>Implemented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4663440"/>
            <a:ext cx="11064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4663440"/>
            <a:ext cx="31821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C3E3C"/>
                </a:solidFill>
                <a:latin typeface="Calibri"/>
              </a:rPr>
              <a:t>6  Policy &amp; Case Guidance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9936" y="4663440"/>
            <a:ext cx="56052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2C3E3C"/>
                </a:solidFill>
                <a:latin typeface="Calibri"/>
              </a:rPr>
              <a:t>Policy Assistant grounded on retrieved policy documents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66376" y="4663440"/>
            <a:ext cx="167335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0F7A44"/>
                </a:solidFill>
                <a:latin typeface="Calibri"/>
              </a:rPr>
              <a:t>Implemented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5120640"/>
            <a:ext cx="11064240" cy="457200"/>
          </a:xfrm>
          <a:prstGeom prst="rect">
            <a:avLst/>
          </a:prstGeom>
          <a:solidFill>
            <a:srgbClr val="F3F9F6"/>
          </a:solidFill>
          <a:ln w="6350">
            <a:solidFill>
              <a:srgbClr val="DDE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" y="5120640"/>
            <a:ext cx="31821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C3E3C"/>
                </a:solidFill>
                <a:latin typeface="Calibri"/>
              </a:rPr>
              <a:t>7  Reporting &amp; Dashboards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59936" y="5120640"/>
            <a:ext cx="56052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2C3E3C"/>
                </a:solidFill>
                <a:latin typeface="Calibri"/>
              </a:rPr>
              <a:t>17 reports, live dashboard, CSV and Excel exports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66376" y="5120640"/>
            <a:ext cx="167335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0F7A44"/>
                </a:solidFill>
                <a:latin typeface="Calibri"/>
              </a:rPr>
              <a:t>Implemented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5349240"/>
            <a:ext cx="11064240" cy="1005840"/>
          </a:xfrm>
          <a:prstGeom prst="roundRect">
            <a:avLst>
              <a:gd name="adj" fmla="val 4500"/>
            </a:avLst>
          </a:prstGeom>
          <a:solidFill>
            <a:srgbClr val="EC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86384" y="5349240"/>
            <a:ext cx="10625328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1" i="0">
                <a:solidFill>
                  <a:srgbClr val="0F7A44"/>
                </a:solidFill>
                <a:latin typeface="Calibri"/>
              </a:rPr>
              <a:t>All seven modules and all twelve process models are represented in the running system.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50" b="1" i="0">
                <a:solidFill>
                  <a:srgbClr val="0F7A44"/>
                </a:solidFill>
                <a:latin typeface="Calibri"/>
              </a:rPr>
              <a:t>The 80% target is met on coverage; the remaining 20% is institutional validation and production readiness.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75488"/>
            <a:ext cx="54864" cy="237744"/>
          </a:xfrm>
          <a:prstGeom prst="rect">
            <a:avLst/>
          </a:prstGeom>
          <a:solidFill>
            <a:srgbClr val="8FD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45720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8FD9AE"/>
                </a:solidFill>
                <a:latin typeface="Arial"/>
              </a:rPr>
              <a:t>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Architecture and the AIMS boundary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73936"/>
            <a:ext cx="6858000" cy="1078992"/>
          </a:xfrm>
          <a:prstGeom prst="roundRect">
            <a:avLst>
              <a:gd name="adj" fmla="val 7000"/>
            </a:avLst>
          </a:prstGeom>
          <a:solidFill>
            <a:srgbClr val="11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59536" y="1901952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8FD9AE"/>
                </a:solidFill>
                <a:latin typeface="Arial"/>
              </a:rPr>
              <a:t>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76272"/>
            <a:ext cx="6309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React 18 · Vite · Tailwind 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68880"/>
            <a:ext cx="6309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A8D2BD"/>
                </a:solidFill>
                <a:latin typeface="Calibri"/>
              </a:rPr>
              <a:t>Role-gated screens. Holds no business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99232"/>
            <a:ext cx="6858000" cy="1078992"/>
          </a:xfrm>
          <a:prstGeom prst="roundRect">
            <a:avLst>
              <a:gd name="adj" fmla="val 7000"/>
            </a:avLst>
          </a:prstGeom>
          <a:solidFill>
            <a:srgbClr val="11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9536" y="3127248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8FD9AE"/>
                </a:solidFill>
                <a:latin typeface="Arial"/>
              </a:rPr>
              <a:t>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401568"/>
            <a:ext cx="6309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Python 3.12 · Flask · SQLAlchemy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694176"/>
            <a:ext cx="6309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A8D2BD"/>
                </a:solidFill>
                <a:latin typeface="Calibri"/>
              </a:rPr>
              <a:t>130 REST endpoints. Authorization, rules, workflow, audit log.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224528"/>
            <a:ext cx="6858000" cy="1078992"/>
          </a:xfrm>
          <a:prstGeom prst="roundRect">
            <a:avLst>
              <a:gd name="adj" fmla="val 7000"/>
            </a:avLst>
          </a:prstGeom>
          <a:solidFill>
            <a:srgbClr val="114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59536" y="4352544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8FD9AE"/>
                </a:solidFill>
                <a:latin typeface="Arial"/>
              </a:rPr>
              <a:t>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4626864"/>
            <a:ext cx="6309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MySQL 8 · 39 tables · file 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4919472"/>
            <a:ext cx="6309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A8D2BD"/>
                </a:solidFill>
                <a:latin typeface="Calibri"/>
              </a:rPr>
              <a:t>Imported values read-only. Transaction log drives every indicator.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17536" y="1773936"/>
            <a:ext cx="3913632" cy="3566160"/>
          </a:xfrm>
          <a:prstGeom prst="roundRect">
            <a:avLst>
              <a:gd name="adj" fmla="val 6000"/>
            </a:avLst>
          </a:prstGeom>
          <a:solidFill>
            <a:srgbClr val="0C3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010144" y="1956816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8FD9AE"/>
                </a:solidFill>
                <a:latin typeface="Arial"/>
              </a:rPr>
              <a:t>THE DATA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4" y="2377440"/>
            <a:ext cx="3346704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50" b="1">
                <a:solidFill>
                  <a:srgbClr val="8FD9AE"/>
                </a:solidFill>
                <a:latin typeface="Calibri"/>
              </a:rPr>
              <a:t>▪  </a:t>
            </a:r>
            <a:r>
              <a:rPr sz="1250">
                <a:solidFill>
                  <a:srgbClr val="A8D2BD"/>
                </a:solidFill>
                <a:latin typeface="Calibri"/>
              </a:rPr>
              <a:t>AIMS stays the official record.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50" b="1">
                <a:solidFill>
                  <a:srgbClr val="8FD9AE"/>
                </a:solidFill>
                <a:latin typeface="Calibri"/>
              </a:rPr>
              <a:t>▪  </a:t>
            </a:r>
            <a:r>
              <a:rPr sz="1250" b="1">
                <a:solidFill>
                  <a:srgbClr val="A8D2BD"/>
                </a:solidFill>
                <a:latin typeface="Calibri"/>
              </a:rPr>
              <a:t>Exchange is file-based — </a:t>
            </a:r>
            <a:r>
              <a:rPr sz="1250">
                <a:solidFill>
                  <a:srgbClr val="A8D2BD"/>
                </a:solidFill>
                <a:latin typeface="Calibri"/>
              </a:rPr>
              <a:t>no live integration.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50" b="1">
                <a:solidFill>
                  <a:srgbClr val="8FD9AE"/>
                </a:solidFill>
                <a:latin typeface="Calibri"/>
              </a:rPr>
              <a:t>▪  </a:t>
            </a:r>
            <a:r>
              <a:rPr sz="1250">
                <a:solidFill>
                  <a:srgbClr val="A8D2BD"/>
                </a:solidFill>
                <a:latin typeface="Calibri"/>
              </a:rPr>
              <a:t>Imported values are read-only and labelled.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250" b="1">
                <a:solidFill>
                  <a:srgbClr val="8FD9AE"/>
                </a:solidFill>
                <a:latin typeface="Calibri"/>
              </a:rPr>
              <a:t>▪  </a:t>
            </a:r>
            <a:r>
              <a:rPr sz="1250">
                <a:solidFill>
                  <a:srgbClr val="A8D2BD"/>
                </a:solidFill>
                <a:latin typeface="Calibri"/>
              </a:rPr>
              <a:t>Corrections are reported, then fixed at source.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5778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1">
                <a:solidFill>
                  <a:srgbClr val="A8D2BD"/>
                </a:solidFill>
                <a:latin typeface="Calibri"/>
              </a:rPr>
              <a:t>The design architecture diagram specifies Node.js, Express, Prisma and JWT. CAP-IT1 is implemented as a Flask and SQLAlchemy prototype on the same MySQL 8 database; migration to the diagrammed stack is documented and deferred.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02336"/>
            <a:ext cx="54864" cy="237744"/>
          </a:xfrm>
          <a:prstGeom prst="rect">
            <a:avLst/>
          </a:prstGeom>
          <a:solidFill>
            <a:srgbClr val="1C9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8404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C9A59"/>
                </a:solidFill>
                <a:latin typeface="Arial"/>
              </a:rPr>
              <a:t>WHAT IS LEFT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42826"/>
                </a:solidFill>
                <a:latin typeface="Arial"/>
              </a:rPr>
              <a:t>The remaining 20%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0" i="0">
                <a:solidFill>
                  <a:srgbClr val="5E716E"/>
                </a:solidFill>
                <a:latin typeface="Calibri"/>
              </a:rPr>
              <a:t>Not missing features — institutional validation and production readiness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20240"/>
            <a:ext cx="5440680" cy="3200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1248" y="2139696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1" i="0">
                <a:solidFill>
                  <a:srgbClr val="142826"/>
                </a:solidFill>
                <a:latin typeface="Arial"/>
              </a:rPr>
              <a:t>Validation still to be 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578608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1C9A59"/>
                </a:solidFill>
                <a:latin typeface="Calibri"/>
              </a:rPr>
              <a:t>▪  </a:t>
            </a:r>
            <a:r>
              <a:rPr sz="1350" b="1">
                <a:solidFill>
                  <a:srgbClr val="2C3E3C"/>
                </a:solidFill>
                <a:latin typeface="Calibri"/>
              </a:rPr>
              <a:t>User acceptance testing — </a:t>
            </a:r>
            <a:r>
              <a:rPr sz="1350">
                <a:solidFill>
                  <a:srgbClr val="2C3E3C"/>
                </a:solidFill>
                <a:latin typeface="Calibri"/>
              </a:rPr>
              <a:t>the instrument is prepared but has not been administered; no stakeholder validation is claimed.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1C9A59"/>
                </a:solidFill>
                <a:latin typeface="Calibri"/>
              </a:rPr>
              <a:t>▪  </a:t>
            </a:r>
            <a:r>
              <a:rPr sz="1350" b="1">
                <a:solidFill>
                  <a:srgbClr val="2C3E3C"/>
                </a:solidFill>
                <a:latin typeface="Calibri"/>
              </a:rPr>
              <a:t>Policy values to confirm — </a:t>
            </a:r>
            <a:r>
              <a:rPr sz="1350">
                <a:solidFill>
                  <a:srgbClr val="2C3E3C"/>
                </a:solidFill>
                <a:latin typeface="Calibri"/>
              </a:rPr>
              <a:t>graduation review-window dates and the official document checklist.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1C9A59"/>
                </a:solidFill>
                <a:latin typeface="Calibri"/>
              </a:rPr>
              <a:t>▪  </a:t>
            </a:r>
            <a:r>
              <a:rPr sz="1350">
                <a:solidFill>
                  <a:srgbClr val="2C3E3C"/>
                </a:solidFill>
                <a:latin typeface="Calibri"/>
              </a:rPr>
              <a:t>Institutional sign-off on the export formats.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920240"/>
            <a:ext cx="5440680" cy="3200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64808" y="2139696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1" i="0">
                <a:solidFill>
                  <a:srgbClr val="142826"/>
                </a:solidFill>
                <a:latin typeface="Arial"/>
              </a:rPr>
              <a:t>Production readiness and open 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2578608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1C9A59"/>
                </a:solidFill>
                <a:latin typeface="Calibri"/>
              </a:rPr>
              <a:t>▪  </a:t>
            </a:r>
            <a:r>
              <a:rPr sz="1350" b="1">
                <a:solidFill>
                  <a:srgbClr val="2C3E3C"/>
                </a:solidFill>
                <a:latin typeface="Calibri"/>
              </a:rPr>
              <a:t>Registrar confirmation — </a:t>
            </a:r>
            <a:r>
              <a:rPr sz="1350">
                <a:solidFill>
                  <a:srgbClr val="2C3E3C"/>
                </a:solidFill>
                <a:latin typeface="Calibri"/>
              </a:rPr>
              <a:t>the return signal is still recorded outside the system.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1C9A59"/>
                </a:solidFill>
                <a:latin typeface="Calibri"/>
              </a:rPr>
              <a:t>▪  </a:t>
            </a:r>
            <a:r>
              <a:rPr sz="1350" b="1">
                <a:solidFill>
                  <a:srgbClr val="2C3E3C"/>
                </a:solidFill>
                <a:latin typeface="Calibri"/>
              </a:rPr>
              <a:t>Two model conflicts stay open — </a:t>
            </a:r>
            <a:r>
              <a:rPr sz="1350">
                <a:solidFill>
                  <a:srgbClr val="2C3E3C"/>
                </a:solidFill>
                <a:latin typeface="Calibri"/>
              </a:rPr>
              <a:t>a Canvas review step we do not integrate, and a coordinator role the client assigned differently.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1C9A59"/>
                </a:solidFill>
                <a:latin typeface="Calibri"/>
              </a:rPr>
              <a:t>▪  </a:t>
            </a:r>
            <a:r>
              <a:rPr sz="1350" b="1">
                <a:solidFill>
                  <a:srgbClr val="2C3E3C"/>
                </a:solidFill>
                <a:latin typeface="Calibri"/>
              </a:rPr>
              <a:t>One logged defect — </a:t>
            </a:r>
            <a:r>
              <a:rPr sz="1350">
                <a:solidFill>
                  <a:srgbClr val="2C3E3C"/>
                </a:solidFill>
                <a:latin typeface="Calibri"/>
              </a:rPr>
              <a:t>DEF-001, in demonstration seeding only.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358384"/>
            <a:ext cx="11064240" cy="804672"/>
          </a:xfrm>
          <a:prstGeom prst="roundRect">
            <a:avLst>
              <a:gd name="adj" fmla="val 4500"/>
            </a:avLst>
          </a:prstGeom>
          <a:solidFill>
            <a:srgbClr val="EC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86384" y="5358384"/>
            <a:ext cx="10625328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 i="0">
                <a:solidFill>
                  <a:srgbClr val="0F7A44"/>
                </a:solidFill>
                <a:latin typeface="Calibri"/>
              </a:rPr>
              <a:t>Stated position: an approximately 80–85% complete functional monitoring and workflow-coordination prototype —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 i="0">
                <a:solidFill>
                  <a:srgbClr val="0F7A44"/>
                </a:solidFill>
                <a:latin typeface="Calibri"/>
              </a:rPr>
              <a:t>feature-complete against the models, not yet production-ready or institutionally validated.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5600" b="1" i="0">
                <a:solidFill>
                  <a:srgbClr val="CDEBD8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0040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50" b="0" i="0">
                <a:solidFill>
                  <a:srgbClr val="A8D2BD"/>
                </a:solidFill>
                <a:latin typeface="Calibri"/>
              </a:rPr>
              <a:t>Graduate Student Lifecycle Monitoring and Analytics Platform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50" b="0" i="0">
                <a:solidFill>
                  <a:srgbClr val="A8D2BD"/>
                </a:solidFill>
                <a:latin typeface="Calibri"/>
              </a:rPr>
              <a:t>University of St. La Salle Graduate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315968"/>
            <a:ext cx="2377440" cy="36576"/>
          </a:xfrm>
          <a:prstGeom prst="rect">
            <a:avLst/>
          </a:prstGeom>
          <a:solidFill>
            <a:srgbClr val="8FD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61772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CAP-2521-IT   ·   Mendoza, Oseña, Sanson, Tumbaga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992624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50" b="0" i="0">
                <a:solidFill>
                  <a:srgbClr val="A8D2BD"/>
                </a:solidFill>
                <a:latin typeface="Calibri"/>
              </a:rPr>
              <a:t>Capstone 1  ·  80% IT Development Defense  ·  July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743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CDEBD8"/>
                </a:solidFill>
                <a:latin typeface="Arial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7033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0" i="0">
                <a:solidFill>
                  <a:srgbClr val="A8D2BD"/>
                </a:solidFill>
                <a:latin typeface="Calibri"/>
              </a:rPr>
              <a:t>Every screen in the system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02336"/>
            <a:ext cx="54864" cy="237744"/>
          </a:xfrm>
          <a:prstGeom prst="rect">
            <a:avLst/>
          </a:prstGeom>
          <a:solidFill>
            <a:srgbClr val="1C9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8404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C9A59"/>
                </a:solidFill>
                <a:latin typeface="Arial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42826"/>
                </a:solidFill>
                <a:latin typeface="Arial"/>
              </a:rPr>
              <a:t>System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0" i="0">
                <a:solidFill>
                  <a:srgbClr val="5E716E"/>
                </a:solidFill>
                <a:latin typeface="Calibri"/>
              </a:rPr>
              <a:t>1–6 of 36</a:t>
            </a:r>
          </a:p>
        </p:txBody>
      </p:sp>
      <p:pic>
        <p:nvPicPr>
          <p:cNvPr id="7" name="Picture 6" descr="bz_00-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74519"/>
            <a:ext cx="3108960" cy="20236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3941063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Login</a:t>
            </a:r>
          </a:p>
        </p:txBody>
      </p:sp>
      <p:pic>
        <p:nvPicPr>
          <p:cNvPr id="9" name="Picture 8" descr="bz_01-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1874519"/>
            <a:ext cx="3108960" cy="20236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79392" y="3941063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Dashboard</a:t>
            </a:r>
          </a:p>
        </p:txBody>
      </p:sp>
      <p:pic>
        <p:nvPicPr>
          <p:cNvPr id="11" name="Picture 10" descr="bz_02-repor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1855" y="1874519"/>
            <a:ext cx="3108960" cy="20236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91855" y="3941063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Reports</a:t>
            </a:r>
          </a:p>
        </p:txBody>
      </p:sp>
      <p:pic>
        <p:nvPicPr>
          <p:cNvPr id="13" name="Picture 12" descr="bz_60-analyti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4270248"/>
            <a:ext cx="3108960" cy="20236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63367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Analytics &amp; KPIs</a:t>
            </a:r>
          </a:p>
        </p:txBody>
      </p:sp>
      <p:pic>
        <p:nvPicPr>
          <p:cNvPr id="15" name="Picture 14" descr="bz_03-academic-semest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9392" y="4270248"/>
            <a:ext cx="3108960" cy="202367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79392" y="63367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Academic semesters</a:t>
            </a:r>
          </a:p>
        </p:txBody>
      </p:sp>
      <p:pic>
        <p:nvPicPr>
          <p:cNvPr id="17" name="Picture 16" descr="bz_04-student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1855" y="4270248"/>
            <a:ext cx="3108960" cy="202367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91855" y="63367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Students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02336"/>
            <a:ext cx="54864" cy="237744"/>
          </a:xfrm>
          <a:prstGeom prst="rect">
            <a:avLst/>
          </a:prstGeom>
          <a:solidFill>
            <a:srgbClr val="1C9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8404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C9A59"/>
                </a:solidFill>
                <a:latin typeface="Arial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42826"/>
                </a:solidFill>
                <a:latin typeface="Arial"/>
              </a:rPr>
              <a:t>System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0" i="0">
                <a:solidFill>
                  <a:srgbClr val="5E716E"/>
                </a:solidFill>
                <a:latin typeface="Calibri"/>
              </a:rPr>
              <a:t>7–12 of 36</a:t>
            </a:r>
          </a:p>
        </p:txBody>
      </p:sp>
      <p:pic>
        <p:nvPicPr>
          <p:cNvPr id="7" name="Picture 6" descr="bz_05-facul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74519"/>
            <a:ext cx="3108960" cy="20236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3941063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Faculty</a:t>
            </a:r>
          </a:p>
        </p:txBody>
      </p:sp>
      <p:pic>
        <p:nvPicPr>
          <p:cNvPr id="9" name="Picture 8" descr="bz_06-monitoring-she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1874519"/>
            <a:ext cx="3108960" cy="20236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79392" y="3941063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Monitoring sheet</a:t>
            </a:r>
          </a:p>
        </p:txBody>
      </p:sp>
      <p:pic>
        <p:nvPicPr>
          <p:cNvPr id="11" name="Picture 10" descr="bz_07-enrollment-class-l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1855" y="1874519"/>
            <a:ext cx="3108960" cy="20236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91855" y="3941063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Enrollment class list</a:t>
            </a:r>
          </a:p>
        </p:txBody>
      </p:sp>
      <p:pic>
        <p:nvPicPr>
          <p:cNvPr id="13" name="Picture 12" descr="bz_08-student-hando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4270248"/>
            <a:ext cx="3108960" cy="20236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63367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Student handoff</a:t>
            </a:r>
          </a:p>
        </p:txBody>
      </p:sp>
      <p:pic>
        <p:nvPicPr>
          <p:cNvPr id="15" name="Picture 14" descr="bz_50-onboarding-ga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9392" y="4270248"/>
            <a:ext cx="3108960" cy="202367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79392" y="63367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Onboarding report &amp; Dean gate</a:t>
            </a:r>
          </a:p>
        </p:txBody>
      </p:sp>
      <p:pic>
        <p:nvPicPr>
          <p:cNvPr id="17" name="Picture 16" descr="bz_09-course-adjustment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1855" y="4270248"/>
            <a:ext cx="3108960" cy="202367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91855" y="63367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Course adjustments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02336"/>
            <a:ext cx="54864" cy="237744"/>
          </a:xfrm>
          <a:prstGeom prst="rect">
            <a:avLst/>
          </a:prstGeom>
          <a:solidFill>
            <a:srgbClr val="1C9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8404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C9A59"/>
                </a:solidFill>
                <a:latin typeface="Arial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42826"/>
                </a:solidFill>
                <a:latin typeface="Arial"/>
              </a:rPr>
              <a:t>System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0" i="0">
                <a:solidFill>
                  <a:srgbClr val="5E716E"/>
                </a:solidFill>
                <a:latin typeface="Calibri"/>
              </a:rPr>
              <a:t>13–18 of 36</a:t>
            </a:r>
          </a:p>
        </p:txBody>
      </p:sp>
      <p:pic>
        <p:nvPicPr>
          <p:cNvPr id="7" name="Picture 6" descr="bz_52-coursework-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74519"/>
            <a:ext cx="3108960" cy="20236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3941063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Coursework report to Dean</a:t>
            </a:r>
          </a:p>
        </p:txBody>
      </p:sp>
      <p:pic>
        <p:nvPicPr>
          <p:cNvPr id="9" name="Picture 8" descr="bz_10-course-offer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1874519"/>
            <a:ext cx="3108960" cy="20236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79392" y="3941063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Course offering setup</a:t>
            </a:r>
          </a:p>
        </p:txBody>
      </p:sp>
      <p:pic>
        <p:nvPicPr>
          <p:cNvPr id="11" name="Picture 10" descr="bz_11-enrollm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1855" y="1874519"/>
            <a:ext cx="3108960" cy="20236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91855" y="3941063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Enrollment</a:t>
            </a:r>
          </a:p>
        </p:txBody>
      </p:sp>
      <p:pic>
        <p:nvPicPr>
          <p:cNvPr id="13" name="Picture 12" descr="bz_51-study-pl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4270248"/>
            <a:ext cx="3108960" cy="20236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63367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Curriculum version &amp; study plan</a:t>
            </a:r>
          </a:p>
        </p:txBody>
      </p:sp>
      <p:pic>
        <p:nvPicPr>
          <p:cNvPr id="15" name="Picture 14" descr="bz_12-research-ga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9392" y="4270248"/>
            <a:ext cx="3108960" cy="202367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79392" y="63367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Research gate</a:t>
            </a:r>
          </a:p>
        </p:txBody>
      </p:sp>
      <p:pic>
        <p:nvPicPr>
          <p:cNvPr id="17" name="Picture 16" descr="bz_13-panel-match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1855" y="4270248"/>
            <a:ext cx="3108960" cy="202367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91855" y="63367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Panel matching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02336"/>
            <a:ext cx="54864" cy="237744"/>
          </a:xfrm>
          <a:prstGeom prst="rect">
            <a:avLst/>
          </a:prstGeom>
          <a:solidFill>
            <a:srgbClr val="1C9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8404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C9A59"/>
                </a:solidFill>
                <a:latin typeface="Arial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42826"/>
                </a:solidFill>
                <a:latin typeface="Arial"/>
              </a:rPr>
              <a:t>System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0" i="0">
                <a:solidFill>
                  <a:srgbClr val="5E716E"/>
                </a:solidFill>
                <a:latin typeface="Calibri"/>
              </a:rPr>
              <a:t>19–24 of 36</a:t>
            </a:r>
          </a:p>
        </p:txBody>
      </p:sp>
      <p:pic>
        <p:nvPicPr>
          <p:cNvPr id="7" name="Picture 6" descr="bz_14-defense-schedu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74519"/>
            <a:ext cx="3108960" cy="20236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3941063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Defense scheduling</a:t>
            </a:r>
          </a:p>
        </p:txBody>
      </p:sp>
      <p:pic>
        <p:nvPicPr>
          <p:cNvPr id="9" name="Picture 8" descr="bz_15-practic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1874519"/>
            <a:ext cx="3108960" cy="20236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79392" y="3941063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Practicum</a:t>
            </a:r>
          </a:p>
        </p:txBody>
      </p:sp>
      <p:pic>
        <p:nvPicPr>
          <p:cNvPr id="11" name="Picture 10" descr="bz_16-gradu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1855" y="1874519"/>
            <a:ext cx="3108960" cy="20236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91855" y="3941063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Graduation</a:t>
            </a:r>
          </a:p>
        </p:txBody>
      </p:sp>
      <p:pic>
        <p:nvPicPr>
          <p:cNvPr id="13" name="Picture 12" descr="bz_17-leave-of-abse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4270248"/>
            <a:ext cx="3108960" cy="20236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63367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Leave of absence</a:t>
            </a:r>
          </a:p>
        </p:txBody>
      </p:sp>
      <p:pic>
        <p:nvPicPr>
          <p:cNvPr id="15" name="Picture 14" descr="bz_18-readmiss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9392" y="4270248"/>
            <a:ext cx="3108960" cy="202367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79392" y="63367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Readmission</a:t>
            </a:r>
          </a:p>
        </p:txBody>
      </p:sp>
      <p:pic>
        <p:nvPicPr>
          <p:cNvPr id="17" name="Picture 16" descr="bz_19-awol-residenc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1855" y="4270248"/>
            <a:ext cx="3108960" cy="202367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91855" y="63367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AWOL &amp; residency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02336"/>
            <a:ext cx="54864" cy="237744"/>
          </a:xfrm>
          <a:prstGeom prst="rect">
            <a:avLst/>
          </a:prstGeom>
          <a:solidFill>
            <a:srgbClr val="1C9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8404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C9A59"/>
                </a:solidFill>
                <a:latin typeface="Arial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42826"/>
                </a:solidFill>
                <a:latin typeface="Arial"/>
              </a:rPr>
              <a:t>System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0" i="0">
                <a:solidFill>
                  <a:srgbClr val="5E716E"/>
                </a:solidFill>
                <a:latin typeface="Calibri"/>
              </a:rPr>
              <a:t>25–30 of 36</a:t>
            </a:r>
          </a:p>
        </p:txBody>
      </p:sp>
      <p:pic>
        <p:nvPicPr>
          <p:cNvPr id="7" name="Picture 6" descr="bz_20-withdraw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74519"/>
            <a:ext cx="3108960" cy="20236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3941063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Subject withdrawal</a:t>
            </a:r>
          </a:p>
        </p:txBody>
      </p:sp>
      <p:pic>
        <p:nvPicPr>
          <p:cNvPr id="9" name="Picture 8" descr="bz_21-work-que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1874519"/>
            <a:ext cx="3108960" cy="20236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79392" y="3941063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Work queue</a:t>
            </a:r>
          </a:p>
        </p:txBody>
      </p:sp>
      <p:pic>
        <p:nvPicPr>
          <p:cNvPr id="11" name="Picture 10" descr="bz_22-activity-lo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1855" y="1874519"/>
            <a:ext cx="3108960" cy="20236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91855" y="3941063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Activity log</a:t>
            </a:r>
          </a:p>
        </p:txBody>
      </p:sp>
      <p:pic>
        <p:nvPicPr>
          <p:cNvPr id="13" name="Picture 12" descr="bz_23-recommendati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4270248"/>
            <a:ext cx="3108960" cy="20236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63367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Recommendations</a:t>
            </a:r>
          </a:p>
        </p:txBody>
      </p:sp>
      <p:pic>
        <p:nvPicPr>
          <p:cNvPr id="15" name="Picture 14" descr="bz_24-policy-assista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9392" y="4270248"/>
            <a:ext cx="3108960" cy="202367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79392" y="63367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Policy assistant</a:t>
            </a:r>
          </a:p>
        </p:txBody>
      </p:sp>
      <p:pic>
        <p:nvPicPr>
          <p:cNvPr id="17" name="Picture 16" descr="bz_01-dashbo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1855" y="4270248"/>
            <a:ext cx="3108960" cy="202367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91855" y="63367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Form 1 endorsements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6928" y="402336"/>
            <a:ext cx="54864" cy="237744"/>
          </a:xfrm>
          <a:prstGeom prst="rect">
            <a:avLst/>
          </a:prstGeom>
          <a:solidFill>
            <a:srgbClr val="1C9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38404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C9A59"/>
                </a:solidFill>
                <a:latin typeface="Arial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42826"/>
                </a:solidFill>
                <a:latin typeface="Arial"/>
              </a:rPr>
              <a:t>System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0" i="0">
                <a:solidFill>
                  <a:srgbClr val="5E716E"/>
                </a:solidFill>
                <a:latin typeface="Calibri"/>
              </a:rPr>
              <a:t>31–36 of 36</a:t>
            </a:r>
          </a:p>
        </p:txBody>
      </p:sp>
      <p:pic>
        <p:nvPicPr>
          <p:cNvPr id="7" name="Picture 6" descr="bz_40-student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74519"/>
            <a:ext cx="3108960" cy="20236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3941063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Student detail</a:t>
            </a:r>
          </a:p>
        </p:txBody>
      </p:sp>
      <p:pic>
        <p:nvPicPr>
          <p:cNvPr id="9" name="Picture 8" descr="bz_30-dean-approva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1874519"/>
            <a:ext cx="3108960" cy="20236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79392" y="3941063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Dean approvals</a:t>
            </a:r>
          </a:p>
        </p:txBody>
      </p:sp>
      <p:pic>
        <p:nvPicPr>
          <p:cNvPr id="11" name="Picture 10" descr="bz_53-dean-gat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1855" y="1874519"/>
            <a:ext cx="3108960" cy="20236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91855" y="3941063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Dean portal · report gates</a:t>
            </a:r>
          </a:p>
        </p:txBody>
      </p:sp>
      <p:pic>
        <p:nvPicPr>
          <p:cNvPr id="13" name="Picture 12" descr="bz_32-student-port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4270248"/>
            <a:ext cx="3108960" cy="202367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63367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Student portal</a:t>
            </a:r>
          </a:p>
        </p:txBody>
      </p:sp>
      <p:pic>
        <p:nvPicPr>
          <p:cNvPr id="15" name="Picture 14" descr="bz_39-faculty-port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9392" y="4270248"/>
            <a:ext cx="3108960" cy="202367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79392" y="63367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Faculty portal</a:t>
            </a:r>
          </a:p>
        </p:txBody>
      </p:sp>
      <p:pic>
        <p:nvPicPr>
          <p:cNvPr id="17" name="Picture 16" descr="bz_35-coordinator-monitoring-she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1855" y="4270248"/>
            <a:ext cx="3108960" cy="202367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91855" y="63367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50" b="1" i="0">
                <a:solidFill>
                  <a:srgbClr val="142826"/>
                </a:solidFill>
                <a:latin typeface="Calibri"/>
              </a:rPr>
              <a:t>Coordinator 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