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68" r:id="rId19"/>
    <p:sldId id="285" r:id="rId36"/>
    <p:sldId id="286" r:id="rId37"/>
    <p:sldId id="269" r:id="rId20"/>
    <p:sldId id="270" r:id="rId21"/>
    <p:sldId id="271" r:id="rId22"/>
    <p:sldId id="273" r:id="rId24"/>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4" Type="http://schemas.openxmlformats.org/officeDocument/2006/relationships/slide" Target="slides/slide18.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25.png"/><Relationship Id="rId8"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7.png"/><Relationship Id="rId4" Type="http://schemas.openxmlformats.org/officeDocument/2006/relationships/image" Target="../media/image6.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19.png"/><Relationship Id="rId8"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21.png"/><Relationship Id="rId7" Type="http://schemas.openxmlformats.org/officeDocument/2006/relationships/image" Target="../media/image33.png"/><Relationship Id="rId8"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16.png"/><Relationship Id="rId8"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566928"/>
            <a:ext cx="8229600" cy="292608"/>
          </a:xfrm>
          <a:prstGeom prst="rect">
            <a:avLst/>
          </a:prstGeom>
          <a:noFill/>
        </p:spPr>
        <p:txBody>
          <a:bodyPr wrap="square" lIns="0" rIns="0" tIns="0" bIns="0" anchor="t">
            <a:spAutoFit/>
          </a:bodyPr>
          <a:lstStyle/>
          <a:p>
            <a:pPr algn="l">
              <a:lnSpc>
                <a:spcPct val="125000"/>
              </a:lnSpc>
              <a:spcAft>
                <a:spcPts val="400"/>
              </a:spcAft>
            </a:pPr>
            <a:r>
              <a:rPr sz="1400" b="1" i="0">
                <a:solidFill>
                  <a:srgbClr val="A8D2BD"/>
                </a:solidFill>
                <a:latin typeface="Arial"/>
              </a:rPr>
              <a:t>CAPSTONE 1  ·  80% IT DEVELOPMENT DEFENSE</a:t>
            </a:r>
          </a:p>
        </p:txBody>
      </p:sp>
      <p:sp>
        <p:nvSpPr>
          <p:cNvPr id="4" name="TextBox 3"/>
          <p:cNvSpPr txBox="1"/>
          <p:nvPr/>
        </p:nvSpPr>
        <p:spPr>
          <a:xfrm>
            <a:off x="822960" y="1572768"/>
            <a:ext cx="10607040" cy="2743200"/>
          </a:xfrm>
          <a:prstGeom prst="rect">
            <a:avLst/>
          </a:prstGeom>
          <a:noFill/>
        </p:spPr>
        <p:txBody>
          <a:bodyPr wrap="square" lIns="0" rIns="0" tIns="0" bIns="0" anchor="t">
            <a:spAutoFit/>
          </a:bodyPr>
          <a:lstStyle/>
          <a:p>
            <a:pPr algn="l">
              <a:lnSpc>
                <a:spcPct val="112000"/>
              </a:lnSpc>
              <a:spcAft>
                <a:spcPts val="400"/>
              </a:spcAft>
            </a:pPr>
            <a:r>
              <a:rPr sz="3500" b="1" i="0">
                <a:solidFill>
                  <a:srgbClr val="CDEBD8"/>
                </a:solidFill>
                <a:latin typeface="Arial"/>
              </a:rPr>
              <a:t>DEVELOPING A GRADUATE STUDENT</a:t>
            </a:r>
          </a:p>
          <a:p>
            <a:pPr algn="l">
              <a:lnSpc>
                <a:spcPct val="112000"/>
              </a:lnSpc>
              <a:spcAft>
                <a:spcPts val="400"/>
              </a:spcAft>
            </a:pPr>
            <a:r>
              <a:rPr sz="3500" b="1" i="0">
                <a:solidFill>
                  <a:srgbClr val="CDEBD8"/>
                </a:solidFill>
                <a:latin typeface="Arial"/>
              </a:rPr>
              <a:t>LIFECYCLE MONITORING AND ANALYTICS</a:t>
            </a:r>
          </a:p>
          <a:p>
            <a:pPr algn="l">
              <a:lnSpc>
                <a:spcPct val="112000"/>
              </a:lnSpc>
              <a:spcAft>
                <a:spcPts val="400"/>
              </a:spcAft>
            </a:pPr>
            <a:r>
              <a:rPr sz="3500" b="1" i="0">
                <a:solidFill>
                  <a:srgbClr val="CDEBD8"/>
                </a:solidFill>
                <a:latin typeface="Arial"/>
              </a:rPr>
              <a:t>PLATFORM FOR THE UNIVERSITY OF</a:t>
            </a:r>
          </a:p>
          <a:p>
            <a:pPr algn="l">
              <a:lnSpc>
                <a:spcPct val="112000"/>
              </a:lnSpc>
              <a:spcAft>
                <a:spcPts val="400"/>
              </a:spcAft>
            </a:pPr>
            <a:r>
              <a:rPr sz="3500" b="1" i="0">
                <a:solidFill>
                  <a:srgbClr val="CDEBD8"/>
                </a:solidFill>
                <a:latin typeface="Arial"/>
              </a:rPr>
              <a:t>ST. LA SALLE GRADUATE SCHOOL</a:t>
            </a:r>
          </a:p>
        </p:txBody>
      </p:sp>
      <p:sp>
        <p:nvSpPr>
          <p:cNvPr id="5" name="Rounded Rectangle 4"/>
          <p:cNvSpPr/>
          <p:nvPr/>
        </p:nvSpPr>
        <p:spPr>
          <a:xfrm>
            <a:off x="822960" y="5230368"/>
            <a:ext cx="2743200" cy="694944"/>
          </a:xfrm>
          <a:prstGeom prst="roundRect">
            <a:avLst>
              <a:gd name="adj" fmla="val 50000"/>
            </a:avLst>
          </a:prstGeom>
          <a:solidFill>
            <a:srgbClr val="CF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5230368"/>
            <a:ext cx="2743200" cy="694944"/>
          </a:xfrm>
          <a:prstGeom prst="rect">
            <a:avLst/>
          </a:prstGeom>
          <a:noFill/>
        </p:spPr>
        <p:txBody>
          <a:bodyPr wrap="square" lIns="0" rIns="0" tIns="0" bIns="0" anchor="ctr">
            <a:spAutoFit/>
          </a:bodyPr>
          <a:lstStyle/>
          <a:p>
            <a:pPr algn="ctr">
              <a:lnSpc>
                <a:spcPct val="125000"/>
              </a:lnSpc>
              <a:spcAft>
                <a:spcPts val="400"/>
              </a:spcAft>
            </a:pPr>
            <a:r>
              <a:rPr sz="2300" b="1" i="0">
                <a:solidFill>
                  <a:srgbClr val="0B3D3B"/>
                </a:solidFill>
                <a:latin typeface="Arial"/>
              </a:rPr>
              <a:t>CAP-2521-IT</a:t>
            </a:r>
          </a:p>
        </p:txBody>
      </p:sp>
      <p:sp>
        <p:nvSpPr>
          <p:cNvPr id="7" name="Rounded Rectangle 6"/>
          <p:cNvSpPr/>
          <p:nvPr/>
        </p:nvSpPr>
        <p:spPr>
          <a:xfrm>
            <a:off x="3803904" y="5230368"/>
            <a:ext cx="7562088" cy="694944"/>
          </a:xfrm>
          <a:prstGeom prst="roundRect">
            <a:avLst>
              <a:gd name="adj" fmla="val 16000"/>
            </a:avLst>
          </a:prstGeom>
          <a:solidFill>
            <a:srgbClr val="145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096512" y="5358384"/>
            <a:ext cx="7040880" cy="237744"/>
          </a:xfrm>
          <a:prstGeom prst="rect">
            <a:avLst/>
          </a:prstGeom>
          <a:noFill/>
        </p:spPr>
        <p:txBody>
          <a:bodyPr wrap="square" lIns="0" rIns="0" tIns="0" bIns="0" anchor="t">
            <a:spAutoFit/>
          </a:bodyPr>
          <a:lstStyle/>
          <a:p>
            <a:pPr algn="l">
              <a:lnSpc>
                <a:spcPct val="125000"/>
              </a:lnSpc>
              <a:spcAft>
                <a:spcPts val="400"/>
              </a:spcAft>
            </a:pPr>
            <a:r>
              <a:rPr sz="1300" b="0" i="0">
                <a:solidFill>
                  <a:srgbClr val="A8D2BD"/>
                </a:solidFill>
                <a:latin typeface="Calibri"/>
              </a:rPr>
              <a:t>Presented by :</a:t>
            </a:r>
          </a:p>
        </p:txBody>
      </p:sp>
      <p:sp>
        <p:nvSpPr>
          <p:cNvPr id="9" name="TextBox 8"/>
          <p:cNvSpPr txBox="1"/>
          <p:nvPr/>
        </p:nvSpPr>
        <p:spPr>
          <a:xfrm>
            <a:off x="4096512" y="5577840"/>
            <a:ext cx="7040880" cy="292608"/>
          </a:xfrm>
          <a:prstGeom prst="rect">
            <a:avLst/>
          </a:prstGeom>
          <a:noFill/>
        </p:spPr>
        <p:txBody>
          <a:bodyPr wrap="square" lIns="0" rIns="0" tIns="0" bIns="0" anchor="t">
            <a:spAutoFit/>
          </a:bodyPr>
          <a:lstStyle/>
          <a:p>
            <a:pPr algn="l">
              <a:lnSpc>
                <a:spcPct val="125000"/>
              </a:lnSpc>
              <a:spcAft>
                <a:spcPts val="400"/>
              </a:spcAft>
            </a:pPr>
            <a:r>
              <a:rPr sz="1700" b="1" i="0">
                <a:solidFill>
                  <a:srgbClr val="FFFFFF"/>
                </a:solidFill>
                <a:latin typeface="Calibri"/>
              </a:rPr>
              <a:t>Mendoza, Oseña, Sanson, Tumbaga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 xml:space="preserve">THE ORGANISATION</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 xml:space="preserve">The University of St. La Salle Graduate School, Bacolod City</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 xml:space="preserve">Organizational Profile — Section 1.2 of the approved proposal</a:t>
            </a:r>
          </a:p>
        </p:txBody>
      </p:sp>
      <p:sp>
        <p:nvSpPr>
          <p:cNvPr id="7" name="TextBox 6"/>
          <p:cNvSpPr txBox="1"/>
          <p:nvPr/>
        </p:nvSpPr>
        <p:spPr>
          <a:xfrm>
            <a:off x="566928" y="2011680"/>
            <a:ext cx="5029200" cy="3291840"/>
          </a:xfrm>
          <a:prstGeom prst="rect">
            <a:avLst/>
          </a:prstGeom>
          <a:noFill/>
        </p:spPr>
        <p:txBody>
          <a:bodyPr wrap="square" lIns="0" rIns="0" tIns="0" bIns="0">
            <a:spAutoFit/>
          </a:bodyPr>
          <a:lstStyle/>
          <a:p>
            <a:pPr>
              <a:lnSpc>
                <a:spcPct val="120000"/>
              </a:lnSpc>
              <a:spcAft>
                <a:spcPts val="900"/>
              </a:spcAft>
            </a:pPr>
            <a:r>
              <a:rPr sz="1600" b="1">
                <a:solidFill>
                  <a:srgbClr val="1C9A59"/>
                </a:solidFill>
                <a:latin typeface="Calibri"/>
              </a:rPr>
              <a:t xml:space="preserve">▪  </a:t>
            </a:r>
            <a:r>
              <a:rPr sz="1600" b="1">
                <a:solidFill>
                  <a:srgbClr val="2C3E3C"/>
                </a:solidFill>
                <a:latin typeface="Calibri"/>
              </a:rPr>
              <a:t xml:space="preserve">Programs across five academic areas — </a:t>
            </a:r>
            <a:r>
              <a:rPr sz="1600">
                <a:solidFill>
                  <a:srgbClr val="2C3E3C"/>
                </a:solidFill>
                <a:latin typeface="Calibri"/>
              </a:rPr>
              <a:t xml:space="preserve">Arts and Sciences, Business, Education, Engineering and Technology, and Nursing. These differ in curriculum structure, documentation requirements, practicum needs and research milestones.</a:t>
            </a:r>
          </a:p>
          <a:p>
            <a:pPr>
              <a:lnSpc>
                <a:spcPct val="120000"/>
              </a:lnSpc>
              <a:spcAft>
                <a:spcPts val="900"/>
              </a:spcAft>
            </a:pPr>
            <a:r>
              <a:rPr sz="1600" b="1">
                <a:solidFill>
                  <a:srgbClr val="1C9A59"/>
                </a:solidFill>
                <a:latin typeface="Calibri"/>
              </a:rPr>
              <a:t xml:space="preserve">▪  </a:t>
            </a:r>
            <a:r>
              <a:rPr sz="1600" b="1">
                <a:solidFill>
                  <a:srgbClr val="2C3E3C"/>
                </a:solidFill>
                <a:latin typeface="Calibri"/>
              </a:rPr>
              <a:t xml:space="preserve">One lifecycle, many handoffs — </a:t>
            </a:r>
            <a:r>
              <a:rPr sz="1600">
                <a:solidFill>
                  <a:srgbClr val="2C3E3C"/>
                </a:solidFill>
                <a:latin typeface="Calibri"/>
              </a:rPr>
              <a:t xml:space="preserve">admission handoff, enrollment monitoring, curriculum alignment, coursework tracking, leave of absence and readmission, practicum for applicable programs, research milestones, withdrawal, and graduation endorsement.</a:t>
            </a:r>
          </a:p>
          <a:p>
            <a:pPr>
              <a:lnSpc>
                <a:spcPct val="120000"/>
              </a:lnSpc>
              <a:spcAft>
                <a:spcPts val="900"/>
              </a:spcAft>
            </a:pPr>
            <a:r>
              <a:rPr sz="1600" b="1">
                <a:solidFill>
                  <a:srgbClr val="1C9A59"/>
                </a:solidFill>
                <a:latin typeface="Calibri"/>
              </a:rPr>
              <a:t xml:space="preserve">▪  </a:t>
            </a:r>
            <a:r>
              <a:rPr sz="1600" b="1">
                <a:solidFill>
                  <a:srgbClr val="2C3E3C"/>
                </a:solidFill>
                <a:latin typeface="Calibri"/>
              </a:rPr>
              <a:t xml:space="preserve">Seven stakeholder roles — </a:t>
            </a:r>
            <a:r>
              <a:rPr sz="1600">
                <a:solidFill>
                  <a:srgbClr val="2C3E3C"/>
                </a:solidFill>
                <a:latin typeface="Calibri"/>
              </a:rPr>
              <a:t xml:space="preserve">graduate students, research advisers, the Academic Coordinator, the Research Coordinator, Graduate School Office Staff, the Dean, and faculty. Each has different responsibilities and information needs.</a:t>
            </a:r>
          </a:p>
          <a:p>
            <a:pPr>
              <a:lnSpc>
                <a:spcPct val="120000"/>
              </a:lnSpc>
              <a:spcAft>
                <a:spcPts val="900"/>
              </a:spcAft>
            </a:pPr>
            <a:r>
              <a:rPr sz="1600" b="1">
                <a:solidFill>
                  <a:srgbClr val="1C9A59"/>
                </a:solidFill>
                <a:latin typeface="Calibri"/>
              </a:rPr>
              <a:t xml:space="preserve">▪  </a:t>
            </a:r>
            <a:r>
              <a:rPr sz="1600" b="1">
                <a:solidFill>
                  <a:srgbClr val="2C3E3C"/>
                </a:solidFill>
                <a:latin typeface="Calibri"/>
              </a:rPr>
              <a:t xml:space="preserve">A monitoring and support system — </a:t>
            </a:r>
            <a:r>
              <a:rPr sz="1600">
                <a:solidFill>
                  <a:srgbClr val="2C3E3C"/>
                </a:solidFill>
                <a:latin typeface="Calibri"/>
              </a:rPr>
              <a:t xml:space="preserve">it does not replace the official admissions, Registrar or Accounting processes, and it does not hold the official academic record.</a:t>
            </a:r>
          </a:p>
        </p:txBody>
      </p:sp>
      <p:sp>
        <p:nvSpPr>
          <p:cNvPr id="8" name="Rounded Rectangle 7"/>
          <p:cNvSpPr/>
          <p:nvPr/>
        </p:nvSpPr>
        <p:spPr>
          <a:xfrm>
            <a:off x="566928" y="5486400"/>
            <a:ext cx="5029200" cy="749808"/>
          </a:xfrm>
          <a:prstGeom prst="roundRect">
            <a:avLst>
              <a:gd name="adj" fmla="val 4500"/>
            </a:avLst>
          </a:prstGeom>
          <a:solidFill>
            <a:srgbClr val="EC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68096" y="5486400"/>
            <a:ext cx="4626864" cy="749808"/>
          </a:xfrm>
          <a:prstGeom prst="rect">
            <a:avLst/>
          </a:prstGeom>
          <a:noFill/>
        </p:spPr>
        <p:txBody>
          <a:bodyPr wrap="square" lIns="0" rIns="0" tIns="0" bIns="0" anchor="ctr">
            <a:spAutoFit/>
          </a:bodyPr>
          <a:lstStyle/>
          <a:p>
            <a:pPr algn="l">
              <a:lnSpc>
                <a:spcPct val="120000"/>
              </a:lnSpc>
              <a:spcAft>
                <a:spcPts val="400"/>
              </a:spcAft>
            </a:pPr>
            <a:r>
              <a:rPr sz="1350" b="1" i="0">
                <a:solidFill>
                  <a:srgbClr val="0F7A44"/>
                </a:solidFill>
                <a:latin typeface="Calibri"/>
              </a:rPr>
              <a:t xml:space="preserve">Each stage is carried out through handoffs among students, faculty, coordinators,</a:t>
            </a:r>
          </a:p>
          <a:p>
            <a:pPr algn="l">
              <a:lnSpc>
                <a:spcPct val="120000"/>
              </a:lnSpc>
              <a:spcAft>
                <a:spcPts val="400"/>
              </a:spcAft>
            </a:pPr>
            <a:r>
              <a:rPr sz="1350" b="1" i="0">
                <a:solidFill>
                  <a:srgbClr val="0F7A44"/>
                </a:solidFill>
                <a:latin typeface="Calibri"/>
              </a:rPr>
              <a:t xml:space="preserve">staff and decision-making offices. Monitoring has to follow those handoffs.</a:t>
            </a:r>
          </a:p>
        </p:txBody>
      </p:sp>
      <p:pic>
        <p:nvPicPr>
          <p:cNvPr id="10" name="Picture 9" descr="bz_01-dashboard.png"/>
          <p:cNvPicPr>
            <a:picLocks noChangeAspect="1"/>
          </p:cNvPicPr>
          <p:nvPr/>
        </p:nvPicPr>
        <p:blipFill>
          <a:blip r:embed="rId3"/>
          <a:stretch>
            <a:fillRect/>
          </a:stretch>
        </p:blipFill>
        <p:spPr>
          <a:xfrm>
            <a:off x="5943600" y="1920240"/>
            <a:ext cx="5669280" cy="369023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 xml:space="preserve">THE PROBLEM</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 xml:space="preserve">Status is recorded across multiple sources, with no consolidated view</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 xml:space="preserve">Main Problem Statement — Section 1.4 of the approved proposal</a:t>
            </a:r>
          </a:p>
        </p:txBody>
      </p:sp>
      <p:pic>
        <p:nvPicPr>
          <p:cNvPr id="7" name="Picture 6" descr="bz_06-monitoring-sheet.png"/>
          <p:cNvPicPr>
            <a:picLocks noChangeAspect="1"/>
          </p:cNvPicPr>
          <p:nvPr/>
        </p:nvPicPr>
        <p:blipFill>
          <a:blip r:embed="rId3"/>
          <a:stretch>
            <a:fillRect/>
          </a:stretch>
        </p:blipFill>
        <p:spPr>
          <a:xfrm>
            <a:off x="5589727" y="1938528"/>
            <a:ext cx="6035040" cy="3928309"/>
          </a:xfrm>
          <a:prstGeom prst="rect">
            <a:avLst/>
          </a:prstGeom>
        </p:spPr>
      </p:pic>
      <p:sp>
        <p:nvSpPr>
          <p:cNvPr id="8" name="TextBox 7"/>
          <p:cNvSpPr txBox="1"/>
          <p:nvPr/>
        </p:nvSpPr>
        <p:spPr>
          <a:xfrm>
            <a:off x="566928" y="2011680"/>
            <a:ext cx="4892040" cy="3657600"/>
          </a:xfrm>
          <a:prstGeom prst="rect">
            <a:avLst/>
          </a:prstGeom>
          <a:noFill/>
        </p:spPr>
        <p:txBody>
          <a:bodyPr wrap="square" lIns="0" rIns="0" tIns="0" bIns="0">
            <a:spAutoFit/>
          </a:bodyPr>
          <a:lstStyle/>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As approved — </a:t>
            </a:r>
            <a:r>
              <a:rPr sz="1400">
                <a:solidFill>
                  <a:srgbClr val="2C3E3C"/>
                </a:solidFill>
                <a:latin typeface="Calibri"/>
              </a:rPr>
              <a:t xml:space="preserve">“Graduate student status is recorded across multiple sources, and the Graduate School does not have one consolidated view. Because monitoring and processing rely on manual checking and encoding, status confirmation is slow and prone to human error.”</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A clear view of progress — </a:t>
            </a:r>
            <a:r>
              <a:rPr sz="1400">
                <a:solidFill>
                  <a:srgbClr val="2C3E3C"/>
                </a:solidFill>
                <a:latin typeface="Calibri"/>
              </a:rPr>
              <a:t xml:space="preserve">tracking spans admission, enrollment, coursework, research milestones, practicum, leave and graduation. No single view shows where a student stands across all of them.</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Updates and evidence on time — </a:t>
            </a:r>
            <a:r>
              <a:rPr sz="1400">
                <a:solidFill>
                  <a:srgbClr val="2C3E3C"/>
                </a:solidFill>
                <a:latin typeface="Calibri"/>
              </a:rPr>
              <a:t xml:space="preserve">status arrives from admissions signals, monitoring sheets, protocol forms and email, so updates are delayed, missed, or recorded incorrectly.</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Records combined into one status view — </a:t>
            </a:r>
            <a:r>
              <a:rPr sz="1400">
                <a:solidFill>
                  <a:srgbClr val="2C3E3C"/>
                </a:solidFill>
                <a:latin typeface="Calibri"/>
              </a:rPr>
              <a:t xml:space="preserve">the information exists, but staff piece it together from separate tools before they can confirm a student’s standing.</a:t>
            </a:r>
          </a:p>
        </p:txBody>
      </p:sp>
      <p:sp>
        <p:nvSpPr>
          <p:cNvPr id="9" name="Rounded Rectangle 8"/>
          <p:cNvSpPr/>
          <p:nvPr/>
        </p:nvSpPr>
        <p:spPr>
          <a:xfrm>
            <a:off x="566928" y="5541264"/>
            <a:ext cx="4892040" cy="658368"/>
          </a:xfrm>
          <a:prstGeom prst="roundRect">
            <a:avLst>
              <a:gd name="adj" fmla="val 4500"/>
            </a:avLst>
          </a:prstGeom>
          <a:solidFill>
            <a:srgbClr val="EC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5541264"/>
            <a:ext cx="4498848" cy="658368"/>
          </a:xfrm>
          <a:prstGeom prst="rect">
            <a:avLst/>
          </a:prstGeom>
          <a:noFill/>
        </p:spPr>
        <p:txBody>
          <a:bodyPr wrap="square" lIns="0" rIns="0" tIns="0" bIns="0" anchor="ctr">
            <a:spAutoFit/>
          </a:bodyPr>
          <a:lstStyle/>
          <a:p>
            <a:pPr algn="l">
              <a:lnSpc>
                <a:spcPct val="115000"/>
              </a:lnSpc>
              <a:spcAft>
                <a:spcPts val="400"/>
              </a:spcAft>
            </a:pPr>
            <a:r>
              <a:rPr sz="1250" b="1" i="0">
                <a:solidFill>
                  <a:srgbClr val="0F7A44"/>
                </a:solidFill>
                <a:latin typeface="Calibri"/>
              </a:rPr>
              <a:t xml:space="preserve">Section 1.4 lists six difficulties that follow from this. The next slide continues them.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BEST FEATURES  ·  1 OF 4</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Step-by-step process observation</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Twelve modelled processes, each running as an observable board</a:t>
            </a:r>
          </a:p>
        </p:txBody>
      </p:sp>
      <p:pic>
        <p:nvPicPr>
          <p:cNvPr id="7" name="Picture 6" descr="bz_50-onboarding-gate.png"/>
          <p:cNvPicPr>
            <a:picLocks noChangeAspect="1"/>
          </p:cNvPicPr>
          <p:nvPr/>
        </p:nvPicPr>
        <p:blipFill>
          <a:blip r:embed="rId3"/>
          <a:stretch>
            <a:fillRect/>
          </a:stretch>
        </p:blipFill>
        <p:spPr>
          <a:xfrm>
            <a:off x="566928" y="1938528"/>
            <a:ext cx="6035040" cy="3928309"/>
          </a:xfrm>
          <a:prstGeom prst="rect">
            <a:avLst/>
          </a:prstGeom>
        </p:spPr>
      </p:pic>
      <p:sp>
        <p:nvSpPr>
          <p:cNvPr id="8" name="TextBox 7"/>
          <p:cNvSpPr txBox="1"/>
          <p:nvPr/>
        </p:nvSpPr>
        <p:spPr>
          <a:xfrm>
            <a:off x="6687007" y="2011680"/>
            <a:ext cx="4892040" cy="3657600"/>
          </a:xfrm>
          <a:prstGeom prst="rect">
            <a:avLst/>
          </a:prstGeom>
          <a:noFill/>
        </p:spPr>
        <p:txBody>
          <a:bodyPr wrap="square" lIns="0" rIns="0" tIns="0" bIns="0">
            <a:spAutoFit/>
          </a:bodyPr>
          <a:lstStyle/>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Every process runs as a board by stage — </a:t>
            </a:r>
            <a:r>
              <a:rPr sz="1400">
                <a:solidFill>
                  <a:srgbClr val="2C3E3C"/>
                </a:solidFill>
                <a:latin typeface="Calibri"/>
              </a:rPr>
              <a:t xml:space="preserve">submitted, under review, returned, approved, tagged — so the current owner is visible at a glance.</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The work queue names the role — </a:t>
            </a:r>
            <a:r>
              <a:rPr sz="1400">
                <a:solidFill>
                  <a:srgbClr val="2C3E3C"/>
                </a:solidFill>
                <a:latin typeface="Calibri"/>
              </a:rPr>
              <a:t xml:space="preserve">every open case shows which role owns the next action and how long it has been outstanding.</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The activity log is complete — </a:t>
            </a:r>
            <a:r>
              <a:rPr sz="1400">
                <a:solidFill>
                  <a:srgbClr val="2C3E3C"/>
                </a:solidFill>
                <a:latin typeface="Calibri"/>
              </a:rPr>
              <a:t xml:space="preserve">every decision, handoff and status change is recorded with the actor, the timestamp and the previous value.</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Nothing advances silently — </a:t>
            </a:r>
            <a:r>
              <a:rPr sz="1400">
                <a:solidFill>
                  <a:srgbClr val="2C3E3C"/>
                </a:solidFill>
                <a:latin typeface="Calibri"/>
              </a:rPr>
              <a:t xml:space="preserve">a stage changes only through the action that caused it, which is what makes the audit trail worth having.</a:t>
            </a:r>
          </a:p>
        </p:txBody>
      </p:sp>
      <p:sp>
        <p:nvSpPr>
          <p:cNvPr id="9" name="Rounded Rectangle 8"/>
          <p:cNvSpPr/>
          <p:nvPr/>
        </p:nvSpPr>
        <p:spPr>
          <a:xfrm>
            <a:off x="6687007" y="5541264"/>
            <a:ext cx="4892040" cy="658368"/>
          </a:xfrm>
          <a:prstGeom prst="roundRect">
            <a:avLst>
              <a:gd name="adj" fmla="val 4500"/>
            </a:avLst>
          </a:prstGeom>
          <a:solidFill>
            <a:srgbClr val="EC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88175" y="5541264"/>
            <a:ext cx="4498848" cy="658368"/>
          </a:xfrm>
          <a:prstGeom prst="rect">
            <a:avLst/>
          </a:prstGeom>
          <a:noFill/>
        </p:spPr>
        <p:txBody>
          <a:bodyPr wrap="square" lIns="0" rIns="0" tIns="0" bIns="0" anchor="ctr">
            <a:spAutoFit/>
          </a:bodyPr>
          <a:lstStyle/>
          <a:p>
            <a:pPr algn="l">
              <a:lnSpc>
                <a:spcPct val="115000"/>
              </a:lnSpc>
              <a:spcAft>
                <a:spcPts val="400"/>
              </a:spcAft>
            </a:pPr>
            <a:r>
              <a:rPr sz="1250" b="1" i="0">
                <a:solidFill>
                  <a:srgbClr val="0F7A44"/>
                </a:solidFill>
                <a:latin typeface="Calibri"/>
              </a:rPr>
              <a:t>This is what replaces “I will follow up and get back to you.”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BEST FEATURES  ·  2 OF 4</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Faculty matching for defense panels</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A ranked shortlist that shows the reason for every name on it</a:t>
            </a:r>
          </a:p>
        </p:txBody>
      </p:sp>
      <p:pic>
        <p:nvPicPr>
          <p:cNvPr id="7" name="Picture 6" descr="bz_09-course-adjustments.png"/>
          <p:cNvPicPr>
            <a:picLocks noChangeAspect="1"/>
          </p:cNvPicPr>
          <p:nvPr/>
        </p:nvPicPr>
        <p:blipFill>
          <a:blip r:embed="rId3"/>
          <a:stretch>
            <a:fillRect/>
          </a:stretch>
        </p:blipFill>
        <p:spPr>
          <a:xfrm>
            <a:off x="5589727" y="1938528"/>
            <a:ext cx="6035040" cy="3928309"/>
          </a:xfrm>
          <a:prstGeom prst="rect">
            <a:avLst/>
          </a:prstGeom>
        </p:spPr>
      </p:pic>
      <p:sp>
        <p:nvSpPr>
          <p:cNvPr id="8" name="TextBox 7"/>
          <p:cNvSpPr txBox="1"/>
          <p:nvPr/>
        </p:nvSpPr>
        <p:spPr>
          <a:xfrm>
            <a:off x="566928" y="2011680"/>
            <a:ext cx="4892040" cy="3657600"/>
          </a:xfrm>
          <a:prstGeom prst="rect">
            <a:avLst/>
          </a:prstGeom>
          <a:noFill/>
        </p:spPr>
        <p:txBody>
          <a:bodyPr wrap="square" lIns="0" rIns="0" tIns="0" bIns="0">
            <a:spAutoFit/>
          </a:bodyPr>
          <a:lstStyle/>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Scored, not keyword-matched — </a:t>
            </a:r>
            <a:r>
              <a:rPr sz="1400">
                <a:solidFill>
                  <a:srgbClr val="2C3E3C"/>
                </a:solidFill>
                <a:latin typeface="Calibri"/>
              </a:rPr>
              <a:t xml:space="preserve">specialization terms are weighted by how rare they are across all faculty profiles, so a shared common word counts for far less than a genuine specialism.</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Grounded in the faculty member’s own CV — </a:t>
            </a:r>
            <a:r>
              <a:rPr sz="1400">
                <a:solidFill>
                  <a:srgbClr val="2C3E3C"/>
                </a:solidFill>
                <a:latin typeface="Calibri"/>
              </a:rPr>
              <a:t xml:space="preserve">retrieval pulls the relevant CV sections and presents them as the evidence behind each suggestion.</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The whole basis is on screen — </a:t>
            </a:r>
            <a:r>
              <a:rPr sz="1400">
                <a:solidFill>
                  <a:srgbClr val="2C3E3C"/>
                </a:solidFill>
                <a:latin typeface="Calibri"/>
              </a:rPr>
              <a:t xml:space="preserve">match score, the matching keywords, and the current teaching and panel load, together.</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Advisory by design — </a:t>
            </a:r>
            <a:r>
              <a:rPr sz="1400">
                <a:solidFill>
                  <a:srgbClr val="2C3E3C"/>
                </a:solidFill>
                <a:latin typeface="Calibri"/>
              </a:rPr>
              <a:t xml:space="preserve">the shortlist is a recommendation with a stated basis. A person selects the panel.</a:t>
            </a:r>
          </a:p>
        </p:txBody>
      </p:sp>
      <p:sp>
        <p:nvSpPr>
          <p:cNvPr id="9" name="Rounded Rectangle 8"/>
          <p:cNvSpPr/>
          <p:nvPr/>
        </p:nvSpPr>
        <p:spPr>
          <a:xfrm>
            <a:off x="566928" y="5541264"/>
            <a:ext cx="4892040" cy="658368"/>
          </a:xfrm>
          <a:prstGeom prst="roundRect">
            <a:avLst>
              <a:gd name="adj" fmla="val 4500"/>
            </a:avLst>
          </a:prstGeom>
          <a:solidFill>
            <a:srgbClr val="EC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5541264"/>
            <a:ext cx="4498848" cy="658368"/>
          </a:xfrm>
          <a:prstGeom prst="rect">
            <a:avLst/>
          </a:prstGeom>
          <a:noFill/>
        </p:spPr>
        <p:txBody>
          <a:bodyPr wrap="square" lIns="0" rIns="0" tIns="0" bIns="0" anchor="ctr">
            <a:spAutoFit/>
          </a:bodyPr>
          <a:lstStyle/>
          <a:p>
            <a:pPr algn="l">
              <a:lnSpc>
                <a:spcPct val="115000"/>
              </a:lnSpc>
              <a:spcAft>
                <a:spcPts val="400"/>
              </a:spcAft>
            </a:pPr>
            <a:r>
              <a:rPr sz="1250" b="1" i="0">
                <a:solidFill>
                  <a:srgbClr val="0F7A44"/>
                </a:solidFill>
                <a:latin typeface="Calibri"/>
              </a:rPr>
              <a:t>Explainable: the data used, the reasoning, and the person who decides.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BEST FEATURES  ·  3 OF 4</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Retrieval-augmented policy assistance</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Answers grounded in the Graduate School’s own handbook, with the source shown</a:t>
            </a:r>
          </a:p>
        </p:txBody>
      </p:sp>
      <p:pic>
        <p:nvPicPr>
          <p:cNvPr id="7" name="Picture 6" descr="bz_51-study-plan.png"/>
          <p:cNvPicPr>
            <a:picLocks noChangeAspect="1"/>
          </p:cNvPicPr>
          <p:nvPr/>
        </p:nvPicPr>
        <p:blipFill>
          <a:blip r:embed="rId3"/>
          <a:stretch>
            <a:fillRect/>
          </a:stretch>
        </p:blipFill>
        <p:spPr>
          <a:xfrm>
            <a:off x="566928" y="1938528"/>
            <a:ext cx="6035040" cy="3928309"/>
          </a:xfrm>
          <a:prstGeom prst="rect">
            <a:avLst/>
          </a:prstGeom>
        </p:spPr>
      </p:pic>
      <p:sp>
        <p:nvSpPr>
          <p:cNvPr id="8" name="TextBox 7"/>
          <p:cNvSpPr txBox="1"/>
          <p:nvPr/>
        </p:nvSpPr>
        <p:spPr>
          <a:xfrm>
            <a:off x="6687007" y="2011680"/>
            <a:ext cx="4892040" cy="3657600"/>
          </a:xfrm>
          <a:prstGeom prst="rect">
            <a:avLst/>
          </a:prstGeom>
          <a:noFill/>
        </p:spPr>
        <p:txBody>
          <a:bodyPr wrap="square" lIns="0" rIns="0" tIns="0" bIns="0">
            <a:spAutoFit/>
          </a:bodyPr>
          <a:lstStyle/>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The handbook is indexed, not summarised — </a:t>
            </a:r>
            <a:r>
              <a:rPr sz="1400">
                <a:solidFill>
                  <a:srgbClr val="2C3E3C"/>
                </a:solidFill>
                <a:latin typeface="Calibri"/>
              </a:rPr>
              <a:t xml:space="preserve">policy and research documents are chunked and embedded, and the index rebuilds itself whenever the source documents change.</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Semantic retrieval with a working fallback — </a:t>
            </a:r>
            <a:r>
              <a:rPr sz="1400">
                <a:solidFill>
                  <a:srgbClr val="2C3E3C"/>
                </a:solidFill>
                <a:latin typeface="Calibri"/>
              </a:rPr>
              <a:t xml:space="preserve">vector search over Gemini embeddings, backed by a lexical retriever so the assistant still answers when no API key is configured.</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Every answer carries its source — </a:t>
            </a:r>
            <a:r>
              <a:rPr sz="1400">
                <a:solidFill>
                  <a:srgbClr val="2C3E3C"/>
                </a:solidFill>
                <a:latin typeface="Calibri"/>
              </a:rPr>
              <a:t xml:space="preserve">the document and page are returned with the answer, so it can be checked against the handbook rather than trusted.</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Scoped and routed — </a:t>
            </a:r>
            <a:r>
              <a:rPr sz="1400">
                <a:solidFill>
                  <a:srgbClr val="2C3E3C"/>
                </a:solidFill>
                <a:latin typeface="Calibri"/>
              </a:rPr>
              <a:t xml:space="preserve">operational questions are answered from the verified reports instead of being generated, and a student cannot obtain staff-only information through it.</a:t>
            </a:r>
          </a:p>
        </p:txBody>
      </p:sp>
      <p:sp>
        <p:nvSpPr>
          <p:cNvPr id="9" name="Rounded Rectangle 8"/>
          <p:cNvSpPr/>
          <p:nvPr/>
        </p:nvSpPr>
        <p:spPr>
          <a:xfrm>
            <a:off x="6687007" y="5541264"/>
            <a:ext cx="4892040" cy="658368"/>
          </a:xfrm>
          <a:prstGeom prst="roundRect">
            <a:avLst>
              <a:gd name="adj" fmla="val 4500"/>
            </a:avLst>
          </a:prstGeom>
          <a:solidFill>
            <a:srgbClr val="EC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88175" y="5541264"/>
            <a:ext cx="4498848" cy="658368"/>
          </a:xfrm>
          <a:prstGeom prst="rect">
            <a:avLst/>
          </a:prstGeom>
          <a:noFill/>
        </p:spPr>
        <p:txBody>
          <a:bodyPr wrap="square" lIns="0" rIns="0" tIns="0" bIns="0" anchor="ctr">
            <a:spAutoFit/>
          </a:bodyPr>
          <a:lstStyle/>
          <a:p>
            <a:pPr algn="l">
              <a:lnSpc>
                <a:spcPct val="115000"/>
              </a:lnSpc>
              <a:spcAft>
                <a:spcPts val="400"/>
              </a:spcAft>
            </a:pPr>
            <a:r>
              <a:rPr sz="1250" b="1" i="0">
                <a:solidFill>
                  <a:srgbClr val="0F7A44"/>
                </a:solidFill>
                <a:latin typeface="Calibri"/>
              </a:rPr>
              <a:t>Decision support grounded in the source — not an official ruling.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BEST FEATURES  ·  4 OF 4</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Live availability into defense scheduling</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Finding the hour when four panellists and a student can actually meet</a:t>
            </a:r>
          </a:p>
        </p:txBody>
      </p:sp>
      <p:pic>
        <p:nvPicPr>
          <p:cNvPr id="7" name="Picture 6" descr="bz_19-awol-residency.png"/>
          <p:cNvPicPr>
            <a:picLocks noChangeAspect="1"/>
          </p:cNvPicPr>
          <p:nvPr/>
        </p:nvPicPr>
        <p:blipFill>
          <a:blip r:embed="rId3"/>
          <a:stretch>
            <a:fillRect/>
          </a:stretch>
        </p:blipFill>
        <p:spPr>
          <a:xfrm>
            <a:off x="566928" y="1938528"/>
            <a:ext cx="6035040" cy="3928309"/>
          </a:xfrm>
          <a:prstGeom prst="rect">
            <a:avLst/>
          </a:prstGeom>
        </p:spPr>
      </p:pic>
      <p:sp>
        <p:nvSpPr>
          <p:cNvPr id="8" name="TextBox 7"/>
          <p:cNvSpPr txBox="1"/>
          <p:nvPr/>
        </p:nvSpPr>
        <p:spPr>
          <a:xfrm>
            <a:off x="6687007" y="2011680"/>
            <a:ext cx="4892040" cy="3657600"/>
          </a:xfrm>
          <a:prstGeom prst="rect">
            <a:avLst/>
          </a:prstGeom>
          <a:noFill/>
        </p:spPr>
        <p:txBody>
          <a:bodyPr wrap="square" lIns="0" rIns="0" tIns="0" bIns="0">
            <a:spAutoFit/>
          </a:bodyPr>
          <a:lstStyle/>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Connected calendars are queried live — </a:t>
            </a:r>
            <a:r>
              <a:rPr sz="1400">
                <a:solidFill>
                  <a:srgbClr val="2C3E3C"/>
                </a:solidFill>
                <a:latin typeface="Calibri"/>
              </a:rPr>
              <a:t xml:space="preserve">the Google free/busy API is combined with each faculty member’s recorded weekly working hours.</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A slot is proposed only where everyone is free — </a:t>
            </a:r>
            <a:r>
              <a:rPr sz="1400">
                <a:solidFill>
                  <a:srgbClr val="2C3E3C"/>
                </a:solidFill>
                <a:latin typeface="Calibri"/>
              </a:rPr>
              <a:t xml:space="preserve">the student and every panel member, across both sources.</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It fails closed — </a:t>
            </a:r>
            <a:r>
              <a:rPr sz="1400">
                <a:solidFill>
                  <a:srgbClr val="2C3E3C"/>
                </a:solidFill>
                <a:latin typeface="Calibri"/>
              </a:rPr>
              <a:t xml:space="preserve">where availability cannot be established the system reports that, instead of proposing a slot it cannot support.</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Rescheduling is recorded, not overwritten — </a:t>
            </a:r>
            <a:r>
              <a:rPr sz="1400">
                <a:solidFill>
                  <a:srgbClr val="2C3E3C"/>
                </a:solidFill>
                <a:latin typeface="Calibri"/>
              </a:rPr>
              <a:t xml:space="preserve">the previous schedule stays in the history with the reason it moved.</a:t>
            </a:r>
          </a:p>
        </p:txBody>
      </p:sp>
      <p:sp>
        <p:nvSpPr>
          <p:cNvPr id="9" name="Rounded Rectangle 8"/>
          <p:cNvSpPr/>
          <p:nvPr/>
        </p:nvSpPr>
        <p:spPr>
          <a:xfrm>
            <a:off x="6687007" y="5541264"/>
            <a:ext cx="4892040" cy="658368"/>
          </a:xfrm>
          <a:prstGeom prst="roundRect">
            <a:avLst>
              <a:gd name="adj" fmla="val 4500"/>
            </a:avLst>
          </a:prstGeom>
          <a:solidFill>
            <a:srgbClr val="EC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88175" y="5541264"/>
            <a:ext cx="4498848" cy="658368"/>
          </a:xfrm>
          <a:prstGeom prst="rect">
            <a:avLst/>
          </a:prstGeom>
          <a:noFill/>
        </p:spPr>
        <p:txBody>
          <a:bodyPr wrap="square" lIns="0" rIns="0" tIns="0" bIns="0" anchor="ctr">
            <a:spAutoFit/>
          </a:bodyPr>
          <a:lstStyle/>
          <a:p>
            <a:pPr algn="l">
              <a:lnSpc>
                <a:spcPct val="115000"/>
              </a:lnSpc>
              <a:spcAft>
                <a:spcPts val="400"/>
              </a:spcAft>
            </a:pPr>
            <a:r>
              <a:rPr sz="1250" b="1" i="0">
                <a:solidFill>
                  <a:srgbClr val="0F7A44"/>
                </a:solidFill>
                <a:latin typeface="Calibri"/>
              </a:rPr>
              <a:t>The scheduling problem this platform was asked to solve.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2148840"/>
            <a:ext cx="10515600" cy="914400"/>
          </a:xfrm>
          <a:prstGeom prst="rect">
            <a:avLst/>
          </a:prstGeom>
          <a:noFill/>
        </p:spPr>
        <p:txBody>
          <a:bodyPr wrap="square" lIns="0" rIns="0" tIns="0" bIns="0" anchor="t">
            <a:spAutoFit/>
          </a:bodyPr>
          <a:lstStyle/>
          <a:p>
            <a:pPr algn="l">
              <a:lnSpc>
                <a:spcPct val="100000"/>
              </a:lnSpc>
              <a:spcAft>
                <a:spcPts val="400"/>
              </a:spcAft>
            </a:pPr>
            <a:r>
              <a:rPr sz="5600" b="1" i="0">
                <a:solidFill>
                  <a:srgbClr val="CDEBD8"/>
                </a:solidFill>
                <a:latin typeface="Arial"/>
              </a:rPr>
              <a:t>Thank you</a:t>
            </a:r>
          </a:p>
        </p:txBody>
      </p:sp>
      <p:sp>
        <p:nvSpPr>
          <p:cNvPr id="4" name="TextBox 3"/>
          <p:cNvSpPr txBox="1"/>
          <p:nvPr/>
        </p:nvSpPr>
        <p:spPr>
          <a:xfrm>
            <a:off x="868680" y="3200400"/>
            <a:ext cx="10424160" cy="731520"/>
          </a:xfrm>
          <a:prstGeom prst="rect">
            <a:avLst/>
          </a:prstGeom>
          <a:noFill/>
        </p:spPr>
        <p:txBody>
          <a:bodyPr wrap="square" lIns="0" rIns="0" tIns="0" bIns="0" anchor="t">
            <a:spAutoFit/>
          </a:bodyPr>
          <a:lstStyle/>
          <a:p>
            <a:pPr algn="l">
              <a:lnSpc>
                <a:spcPct val="135000"/>
              </a:lnSpc>
              <a:spcAft>
                <a:spcPts val="400"/>
              </a:spcAft>
            </a:pPr>
            <a:r>
              <a:rPr sz="1850" b="0" i="0">
                <a:solidFill>
                  <a:srgbClr val="A8D2BD"/>
                </a:solidFill>
                <a:latin typeface="Calibri"/>
              </a:rPr>
              <a:t>Graduate Student Lifecycle Monitoring and Analytics Platform</a:t>
            </a:r>
          </a:p>
          <a:p>
            <a:pPr algn="l">
              <a:lnSpc>
                <a:spcPct val="135000"/>
              </a:lnSpc>
              <a:spcAft>
                <a:spcPts val="400"/>
              </a:spcAft>
            </a:pPr>
            <a:r>
              <a:rPr sz="1850" b="0" i="0">
                <a:solidFill>
                  <a:srgbClr val="A8D2BD"/>
                </a:solidFill>
                <a:latin typeface="Calibri"/>
              </a:rPr>
              <a:t>University of St. La Salle Graduate School</a:t>
            </a:r>
          </a:p>
        </p:txBody>
      </p:sp>
      <p:sp>
        <p:nvSpPr>
          <p:cNvPr id="5" name="Rectangle 4"/>
          <p:cNvSpPr/>
          <p:nvPr/>
        </p:nvSpPr>
        <p:spPr>
          <a:xfrm>
            <a:off x="868680" y="4315968"/>
            <a:ext cx="2377440" cy="36576"/>
          </a:xfrm>
          <a:prstGeom prst="rect">
            <a:avLst/>
          </a:prstGeom>
          <a:solidFill>
            <a:srgbClr val="8FD9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4617720"/>
            <a:ext cx="10424160" cy="548640"/>
          </a:xfrm>
          <a:prstGeom prst="rect">
            <a:avLst/>
          </a:prstGeom>
          <a:noFill/>
        </p:spPr>
        <p:txBody>
          <a:bodyPr wrap="square" lIns="0" rIns="0" tIns="0" bIns="0" anchor="t">
            <a:spAutoFit/>
          </a:bodyPr>
          <a:lstStyle/>
          <a:p>
            <a:pPr algn="l">
              <a:lnSpc>
                <a:spcPct val="125000"/>
              </a:lnSpc>
              <a:spcAft>
                <a:spcPts val="400"/>
              </a:spcAft>
            </a:pPr>
            <a:r>
              <a:rPr sz="1650" b="1" i="0">
                <a:solidFill>
                  <a:srgbClr val="FFFFFF"/>
                </a:solidFill>
                <a:latin typeface="Calibri"/>
              </a:rPr>
              <a:t>CAP-2521-IT   ·   Mendoza, Oseña, Sanson, Tumbaga</a:t>
            </a:r>
          </a:p>
        </p:txBody>
      </p:sp>
      <p:sp>
        <p:nvSpPr>
          <p:cNvPr id="7" name="TextBox 6"/>
          <p:cNvSpPr txBox="1"/>
          <p:nvPr/>
        </p:nvSpPr>
        <p:spPr>
          <a:xfrm>
            <a:off x="868680" y="4992624"/>
            <a:ext cx="10424160" cy="365760"/>
          </a:xfrm>
          <a:prstGeom prst="rect">
            <a:avLst/>
          </a:prstGeom>
          <a:noFill/>
        </p:spPr>
        <p:txBody>
          <a:bodyPr wrap="square" lIns="0" rIns="0" tIns="0" bIns="0" anchor="t">
            <a:spAutoFit/>
          </a:bodyPr>
          <a:lstStyle/>
          <a:p>
            <a:pPr algn="l">
              <a:lnSpc>
                <a:spcPct val="125000"/>
              </a:lnSpc>
              <a:spcAft>
                <a:spcPts val="400"/>
              </a:spcAft>
            </a:pPr>
            <a:r>
              <a:rPr sz="1350" b="0" i="0">
                <a:solidFill>
                  <a:srgbClr val="A8D2BD"/>
                </a:solidFill>
                <a:latin typeface="Calibri"/>
              </a:rPr>
              <a:t>Capstone 1  ·  80% IT Development Defense  ·  July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2743200"/>
            <a:ext cx="10515600" cy="822960"/>
          </a:xfrm>
          <a:prstGeom prst="rect">
            <a:avLst/>
          </a:prstGeom>
          <a:noFill/>
        </p:spPr>
        <p:txBody>
          <a:bodyPr wrap="square" lIns="0" rIns="0" tIns="0" bIns="0" anchor="t">
            <a:spAutoFit/>
          </a:bodyPr>
          <a:lstStyle/>
          <a:p>
            <a:pPr algn="l">
              <a:lnSpc>
                <a:spcPct val="100000"/>
              </a:lnSpc>
              <a:spcAft>
                <a:spcPts val="400"/>
              </a:spcAft>
            </a:pPr>
            <a:r>
              <a:rPr sz="4800" b="1" i="0">
                <a:solidFill>
                  <a:srgbClr val="CDEBD8"/>
                </a:solidFill>
                <a:latin typeface="Arial"/>
              </a:rPr>
              <a:t>Appendix</a:t>
            </a:r>
          </a:p>
        </p:txBody>
      </p:sp>
      <p:sp>
        <p:nvSpPr>
          <p:cNvPr id="4" name="TextBox 3"/>
          <p:cNvSpPr txBox="1"/>
          <p:nvPr/>
        </p:nvSpPr>
        <p:spPr>
          <a:xfrm>
            <a:off x="868680" y="3703320"/>
            <a:ext cx="10424160" cy="457200"/>
          </a:xfrm>
          <a:prstGeom prst="rect">
            <a:avLst/>
          </a:prstGeom>
          <a:noFill/>
        </p:spPr>
        <p:txBody>
          <a:bodyPr wrap="square" lIns="0" rIns="0" tIns="0" bIns="0" anchor="t">
            <a:spAutoFit/>
          </a:bodyPr>
          <a:lstStyle/>
          <a:p>
            <a:pPr algn="l">
              <a:lnSpc>
                <a:spcPct val="125000"/>
              </a:lnSpc>
              <a:spcAft>
                <a:spcPts val="400"/>
              </a:spcAft>
            </a:pPr>
            <a:r>
              <a:rPr sz="1900" b="0" i="0">
                <a:solidFill>
                  <a:srgbClr val="A8D2BD"/>
                </a:solidFill>
                <a:latin typeface="Calibri"/>
              </a:rPr>
              <a:t>Every screen in the system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APPENDIX</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System screens</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1–6 of 36</a:t>
            </a:r>
          </a:p>
        </p:txBody>
      </p:sp>
      <p:pic>
        <p:nvPicPr>
          <p:cNvPr id="7" name="Picture 6" descr="bz_00-login.png"/>
          <p:cNvPicPr>
            <a:picLocks noChangeAspect="1"/>
          </p:cNvPicPr>
          <p:nvPr/>
        </p:nvPicPr>
        <p:blipFill>
          <a:blip r:embed="rId3"/>
          <a:stretch>
            <a:fillRect/>
          </a:stretch>
        </p:blipFill>
        <p:spPr>
          <a:xfrm>
            <a:off x="566928" y="1874519"/>
            <a:ext cx="3108960" cy="2023674"/>
          </a:xfrm>
          <a:prstGeom prst="rect">
            <a:avLst/>
          </a:prstGeom>
        </p:spPr>
      </p:pic>
      <p:sp>
        <p:nvSpPr>
          <p:cNvPr id="8" name="TextBox 7"/>
          <p:cNvSpPr txBox="1"/>
          <p:nvPr/>
        </p:nvSpPr>
        <p:spPr>
          <a:xfrm>
            <a:off x="566928"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Login</a:t>
            </a:r>
          </a:p>
        </p:txBody>
      </p:sp>
      <p:pic>
        <p:nvPicPr>
          <p:cNvPr id="9" name="Picture 8" descr="bz_01-dashboard.png"/>
          <p:cNvPicPr>
            <a:picLocks noChangeAspect="1"/>
          </p:cNvPicPr>
          <p:nvPr/>
        </p:nvPicPr>
        <p:blipFill>
          <a:blip r:embed="rId4"/>
          <a:stretch>
            <a:fillRect/>
          </a:stretch>
        </p:blipFill>
        <p:spPr>
          <a:xfrm>
            <a:off x="4279392" y="1874519"/>
            <a:ext cx="3108960" cy="2023674"/>
          </a:xfrm>
          <a:prstGeom prst="rect">
            <a:avLst/>
          </a:prstGeom>
        </p:spPr>
      </p:pic>
      <p:sp>
        <p:nvSpPr>
          <p:cNvPr id="10" name="TextBox 9"/>
          <p:cNvSpPr txBox="1"/>
          <p:nvPr/>
        </p:nvSpPr>
        <p:spPr>
          <a:xfrm>
            <a:off x="4279392"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Dashboard</a:t>
            </a:r>
          </a:p>
        </p:txBody>
      </p:sp>
      <p:pic>
        <p:nvPicPr>
          <p:cNvPr id="11" name="Picture 10" descr="bz_02-reports.png"/>
          <p:cNvPicPr>
            <a:picLocks noChangeAspect="1"/>
          </p:cNvPicPr>
          <p:nvPr/>
        </p:nvPicPr>
        <p:blipFill>
          <a:blip r:embed="rId5"/>
          <a:stretch>
            <a:fillRect/>
          </a:stretch>
        </p:blipFill>
        <p:spPr>
          <a:xfrm>
            <a:off x="7991855" y="1874519"/>
            <a:ext cx="3108960" cy="2023674"/>
          </a:xfrm>
          <a:prstGeom prst="rect">
            <a:avLst/>
          </a:prstGeom>
        </p:spPr>
      </p:pic>
      <p:sp>
        <p:nvSpPr>
          <p:cNvPr id="12" name="TextBox 11"/>
          <p:cNvSpPr txBox="1"/>
          <p:nvPr/>
        </p:nvSpPr>
        <p:spPr>
          <a:xfrm>
            <a:off x="7991855"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Reports</a:t>
            </a:r>
          </a:p>
        </p:txBody>
      </p:sp>
      <p:pic>
        <p:nvPicPr>
          <p:cNvPr id="13" name="Picture 12" descr="bz_60-analytics.png"/>
          <p:cNvPicPr>
            <a:picLocks noChangeAspect="1"/>
          </p:cNvPicPr>
          <p:nvPr/>
        </p:nvPicPr>
        <p:blipFill>
          <a:blip r:embed="rId6"/>
          <a:stretch>
            <a:fillRect/>
          </a:stretch>
        </p:blipFill>
        <p:spPr>
          <a:xfrm>
            <a:off x="566928" y="4270248"/>
            <a:ext cx="3108960" cy="2023674"/>
          </a:xfrm>
          <a:prstGeom prst="rect">
            <a:avLst/>
          </a:prstGeom>
        </p:spPr>
      </p:pic>
      <p:sp>
        <p:nvSpPr>
          <p:cNvPr id="14" name="TextBox 13"/>
          <p:cNvSpPr txBox="1"/>
          <p:nvPr/>
        </p:nvSpPr>
        <p:spPr>
          <a:xfrm>
            <a:off x="566928"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Analytics &amp; KPIs</a:t>
            </a:r>
          </a:p>
        </p:txBody>
      </p:sp>
      <p:pic>
        <p:nvPicPr>
          <p:cNvPr id="15" name="Picture 14" descr="bz_03-academic-semesters.png"/>
          <p:cNvPicPr>
            <a:picLocks noChangeAspect="1"/>
          </p:cNvPicPr>
          <p:nvPr/>
        </p:nvPicPr>
        <p:blipFill>
          <a:blip r:embed="rId7"/>
          <a:stretch>
            <a:fillRect/>
          </a:stretch>
        </p:blipFill>
        <p:spPr>
          <a:xfrm>
            <a:off x="4279392" y="4270248"/>
            <a:ext cx="3108960" cy="2023674"/>
          </a:xfrm>
          <a:prstGeom prst="rect">
            <a:avLst/>
          </a:prstGeom>
        </p:spPr>
      </p:pic>
      <p:sp>
        <p:nvSpPr>
          <p:cNvPr id="16" name="TextBox 15"/>
          <p:cNvSpPr txBox="1"/>
          <p:nvPr/>
        </p:nvSpPr>
        <p:spPr>
          <a:xfrm>
            <a:off x="4279392"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Academic semesters</a:t>
            </a:r>
          </a:p>
        </p:txBody>
      </p:sp>
      <p:pic>
        <p:nvPicPr>
          <p:cNvPr id="17" name="Picture 16" descr="bz_04-students.png"/>
          <p:cNvPicPr>
            <a:picLocks noChangeAspect="1"/>
          </p:cNvPicPr>
          <p:nvPr/>
        </p:nvPicPr>
        <p:blipFill>
          <a:blip r:embed="rId8"/>
          <a:stretch>
            <a:fillRect/>
          </a:stretch>
        </p:blipFill>
        <p:spPr>
          <a:xfrm>
            <a:off x="7991855" y="4270248"/>
            <a:ext cx="3108960" cy="2023674"/>
          </a:xfrm>
          <a:prstGeom prst="rect">
            <a:avLst/>
          </a:prstGeom>
        </p:spPr>
      </p:pic>
      <p:sp>
        <p:nvSpPr>
          <p:cNvPr id="18" name="TextBox 17"/>
          <p:cNvSpPr txBox="1"/>
          <p:nvPr/>
        </p:nvSpPr>
        <p:spPr>
          <a:xfrm>
            <a:off x="7991855"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Students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APPENDIX</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System screens</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7–12 of 36</a:t>
            </a:r>
          </a:p>
        </p:txBody>
      </p:sp>
      <p:pic>
        <p:nvPicPr>
          <p:cNvPr id="7" name="Picture 6" descr="bz_05-faculty.png"/>
          <p:cNvPicPr>
            <a:picLocks noChangeAspect="1"/>
          </p:cNvPicPr>
          <p:nvPr/>
        </p:nvPicPr>
        <p:blipFill>
          <a:blip r:embed="rId3"/>
          <a:stretch>
            <a:fillRect/>
          </a:stretch>
        </p:blipFill>
        <p:spPr>
          <a:xfrm>
            <a:off x="566928" y="1874519"/>
            <a:ext cx="3108960" cy="2023674"/>
          </a:xfrm>
          <a:prstGeom prst="rect">
            <a:avLst/>
          </a:prstGeom>
        </p:spPr>
      </p:pic>
      <p:sp>
        <p:nvSpPr>
          <p:cNvPr id="8" name="TextBox 7"/>
          <p:cNvSpPr txBox="1"/>
          <p:nvPr/>
        </p:nvSpPr>
        <p:spPr>
          <a:xfrm>
            <a:off x="566928"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Faculty</a:t>
            </a:r>
          </a:p>
        </p:txBody>
      </p:sp>
      <p:pic>
        <p:nvPicPr>
          <p:cNvPr id="9" name="Picture 8" descr="bz_06-monitoring-sheet.png"/>
          <p:cNvPicPr>
            <a:picLocks noChangeAspect="1"/>
          </p:cNvPicPr>
          <p:nvPr/>
        </p:nvPicPr>
        <p:blipFill>
          <a:blip r:embed="rId4"/>
          <a:stretch>
            <a:fillRect/>
          </a:stretch>
        </p:blipFill>
        <p:spPr>
          <a:xfrm>
            <a:off x="4279392" y="1874519"/>
            <a:ext cx="3108960" cy="2023674"/>
          </a:xfrm>
          <a:prstGeom prst="rect">
            <a:avLst/>
          </a:prstGeom>
        </p:spPr>
      </p:pic>
      <p:sp>
        <p:nvSpPr>
          <p:cNvPr id="10" name="TextBox 9"/>
          <p:cNvSpPr txBox="1"/>
          <p:nvPr/>
        </p:nvSpPr>
        <p:spPr>
          <a:xfrm>
            <a:off x="4279392"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Monitoring sheet</a:t>
            </a:r>
          </a:p>
        </p:txBody>
      </p:sp>
      <p:pic>
        <p:nvPicPr>
          <p:cNvPr id="11" name="Picture 10" descr="bz_07-enrollment-class-list.png"/>
          <p:cNvPicPr>
            <a:picLocks noChangeAspect="1"/>
          </p:cNvPicPr>
          <p:nvPr/>
        </p:nvPicPr>
        <p:blipFill>
          <a:blip r:embed="rId5"/>
          <a:stretch>
            <a:fillRect/>
          </a:stretch>
        </p:blipFill>
        <p:spPr>
          <a:xfrm>
            <a:off x="7991855" y="1874519"/>
            <a:ext cx="3108960" cy="2023674"/>
          </a:xfrm>
          <a:prstGeom prst="rect">
            <a:avLst/>
          </a:prstGeom>
        </p:spPr>
      </p:pic>
      <p:sp>
        <p:nvSpPr>
          <p:cNvPr id="12" name="TextBox 11"/>
          <p:cNvSpPr txBox="1"/>
          <p:nvPr/>
        </p:nvSpPr>
        <p:spPr>
          <a:xfrm>
            <a:off x="7991855"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Enrollment class list</a:t>
            </a:r>
          </a:p>
        </p:txBody>
      </p:sp>
      <p:pic>
        <p:nvPicPr>
          <p:cNvPr id="13" name="Picture 12" descr="bz_08-student-handoff.png"/>
          <p:cNvPicPr>
            <a:picLocks noChangeAspect="1"/>
          </p:cNvPicPr>
          <p:nvPr/>
        </p:nvPicPr>
        <p:blipFill>
          <a:blip r:embed="rId6"/>
          <a:stretch>
            <a:fillRect/>
          </a:stretch>
        </p:blipFill>
        <p:spPr>
          <a:xfrm>
            <a:off x="566928" y="4270248"/>
            <a:ext cx="3108960" cy="2023674"/>
          </a:xfrm>
          <a:prstGeom prst="rect">
            <a:avLst/>
          </a:prstGeom>
        </p:spPr>
      </p:pic>
      <p:sp>
        <p:nvSpPr>
          <p:cNvPr id="14" name="TextBox 13"/>
          <p:cNvSpPr txBox="1"/>
          <p:nvPr/>
        </p:nvSpPr>
        <p:spPr>
          <a:xfrm>
            <a:off x="566928"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Student handoff</a:t>
            </a:r>
          </a:p>
        </p:txBody>
      </p:sp>
      <p:pic>
        <p:nvPicPr>
          <p:cNvPr id="15" name="Picture 14" descr="bz_50-onboarding-gate.png"/>
          <p:cNvPicPr>
            <a:picLocks noChangeAspect="1"/>
          </p:cNvPicPr>
          <p:nvPr/>
        </p:nvPicPr>
        <p:blipFill>
          <a:blip r:embed="rId7"/>
          <a:stretch>
            <a:fillRect/>
          </a:stretch>
        </p:blipFill>
        <p:spPr>
          <a:xfrm>
            <a:off x="4279392" y="4270248"/>
            <a:ext cx="3108960" cy="2023674"/>
          </a:xfrm>
          <a:prstGeom prst="rect">
            <a:avLst/>
          </a:prstGeom>
        </p:spPr>
      </p:pic>
      <p:sp>
        <p:nvSpPr>
          <p:cNvPr id="16" name="TextBox 15"/>
          <p:cNvSpPr txBox="1"/>
          <p:nvPr/>
        </p:nvSpPr>
        <p:spPr>
          <a:xfrm>
            <a:off x="4279392"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Onboarding report &amp; Dean gate</a:t>
            </a:r>
          </a:p>
        </p:txBody>
      </p:sp>
      <p:pic>
        <p:nvPicPr>
          <p:cNvPr id="17" name="Picture 16" descr="bz_09-course-adjustments.png"/>
          <p:cNvPicPr>
            <a:picLocks noChangeAspect="1"/>
          </p:cNvPicPr>
          <p:nvPr/>
        </p:nvPicPr>
        <p:blipFill>
          <a:blip r:embed="rId8"/>
          <a:stretch>
            <a:fillRect/>
          </a:stretch>
        </p:blipFill>
        <p:spPr>
          <a:xfrm>
            <a:off x="7991855" y="4270248"/>
            <a:ext cx="3108960" cy="2023674"/>
          </a:xfrm>
          <a:prstGeom prst="rect">
            <a:avLst/>
          </a:prstGeom>
        </p:spPr>
      </p:pic>
      <p:sp>
        <p:nvSpPr>
          <p:cNvPr id="18" name="TextBox 17"/>
          <p:cNvSpPr txBox="1"/>
          <p:nvPr/>
        </p:nvSpPr>
        <p:spPr>
          <a:xfrm>
            <a:off x="7991855"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Course adjustments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APPENDIX</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System screens</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13–18 of 36</a:t>
            </a:r>
          </a:p>
        </p:txBody>
      </p:sp>
      <p:pic>
        <p:nvPicPr>
          <p:cNvPr id="7" name="Picture 6" descr="bz_52-coursework-report.png"/>
          <p:cNvPicPr>
            <a:picLocks noChangeAspect="1"/>
          </p:cNvPicPr>
          <p:nvPr/>
        </p:nvPicPr>
        <p:blipFill>
          <a:blip r:embed="rId3"/>
          <a:stretch>
            <a:fillRect/>
          </a:stretch>
        </p:blipFill>
        <p:spPr>
          <a:xfrm>
            <a:off x="566928" y="1874519"/>
            <a:ext cx="3108960" cy="2023674"/>
          </a:xfrm>
          <a:prstGeom prst="rect">
            <a:avLst/>
          </a:prstGeom>
        </p:spPr>
      </p:pic>
      <p:sp>
        <p:nvSpPr>
          <p:cNvPr id="8" name="TextBox 7"/>
          <p:cNvSpPr txBox="1"/>
          <p:nvPr/>
        </p:nvSpPr>
        <p:spPr>
          <a:xfrm>
            <a:off x="566928"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Coursework report to Dean</a:t>
            </a:r>
          </a:p>
        </p:txBody>
      </p:sp>
      <p:pic>
        <p:nvPicPr>
          <p:cNvPr id="9" name="Picture 8" descr="bz_10-course-offerings.png"/>
          <p:cNvPicPr>
            <a:picLocks noChangeAspect="1"/>
          </p:cNvPicPr>
          <p:nvPr/>
        </p:nvPicPr>
        <p:blipFill>
          <a:blip r:embed="rId4"/>
          <a:stretch>
            <a:fillRect/>
          </a:stretch>
        </p:blipFill>
        <p:spPr>
          <a:xfrm>
            <a:off x="4279392" y="1874519"/>
            <a:ext cx="3108960" cy="2023674"/>
          </a:xfrm>
          <a:prstGeom prst="rect">
            <a:avLst/>
          </a:prstGeom>
        </p:spPr>
      </p:pic>
      <p:sp>
        <p:nvSpPr>
          <p:cNvPr id="10" name="TextBox 9"/>
          <p:cNvSpPr txBox="1"/>
          <p:nvPr/>
        </p:nvSpPr>
        <p:spPr>
          <a:xfrm>
            <a:off x="4279392"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Course offering setup</a:t>
            </a:r>
          </a:p>
        </p:txBody>
      </p:sp>
      <p:pic>
        <p:nvPicPr>
          <p:cNvPr id="11" name="Picture 10" descr="bz_11-enrollment.png"/>
          <p:cNvPicPr>
            <a:picLocks noChangeAspect="1"/>
          </p:cNvPicPr>
          <p:nvPr/>
        </p:nvPicPr>
        <p:blipFill>
          <a:blip r:embed="rId5"/>
          <a:stretch>
            <a:fillRect/>
          </a:stretch>
        </p:blipFill>
        <p:spPr>
          <a:xfrm>
            <a:off x="7991855" y="1874519"/>
            <a:ext cx="3108960" cy="2023674"/>
          </a:xfrm>
          <a:prstGeom prst="rect">
            <a:avLst/>
          </a:prstGeom>
        </p:spPr>
      </p:pic>
      <p:sp>
        <p:nvSpPr>
          <p:cNvPr id="12" name="TextBox 11"/>
          <p:cNvSpPr txBox="1"/>
          <p:nvPr/>
        </p:nvSpPr>
        <p:spPr>
          <a:xfrm>
            <a:off x="7991855"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Enrollment</a:t>
            </a:r>
          </a:p>
        </p:txBody>
      </p:sp>
      <p:pic>
        <p:nvPicPr>
          <p:cNvPr id="13" name="Picture 12" descr="bz_51-study-plan.png"/>
          <p:cNvPicPr>
            <a:picLocks noChangeAspect="1"/>
          </p:cNvPicPr>
          <p:nvPr/>
        </p:nvPicPr>
        <p:blipFill>
          <a:blip r:embed="rId6"/>
          <a:stretch>
            <a:fillRect/>
          </a:stretch>
        </p:blipFill>
        <p:spPr>
          <a:xfrm>
            <a:off x="566928" y="4270248"/>
            <a:ext cx="3108960" cy="2023674"/>
          </a:xfrm>
          <a:prstGeom prst="rect">
            <a:avLst/>
          </a:prstGeom>
        </p:spPr>
      </p:pic>
      <p:sp>
        <p:nvSpPr>
          <p:cNvPr id="14" name="TextBox 13"/>
          <p:cNvSpPr txBox="1"/>
          <p:nvPr/>
        </p:nvSpPr>
        <p:spPr>
          <a:xfrm>
            <a:off x="566928"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Curriculum version &amp; study plan</a:t>
            </a:r>
          </a:p>
        </p:txBody>
      </p:sp>
      <p:pic>
        <p:nvPicPr>
          <p:cNvPr id="15" name="Picture 14" descr="bz_12-research-gate.png"/>
          <p:cNvPicPr>
            <a:picLocks noChangeAspect="1"/>
          </p:cNvPicPr>
          <p:nvPr/>
        </p:nvPicPr>
        <p:blipFill>
          <a:blip r:embed="rId7"/>
          <a:stretch>
            <a:fillRect/>
          </a:stretch>
        </p:blipFill>
        <p:spPr>
          <a:xfrm>
            <a:off x="4279392" y="4270248"/>
            <a:ext cx="3108960" cy="2023674"/>
          </a:xfrm>
          <a:prstGeom prst="rect">
            <a:avLst/>
          </a:prstGeom>
        </p:spPr>
      </p:pic>
      <p:sp>
        <p:nvSpPr>
          <p:cNvPr id="16" name="TextBox 15"/>
          <p:cNvSpPr txBox="1"/>
          <p:nvPr/>
        </p:nvSpPr>
        <p:spPr>
          <a:xfrm>
            <a:off x="4279392"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Research gate</a:t>
            </a:r>
          </a:p>
        </p:txBody>
      </p:sp>
      <p:pic>
        <p:nvPicPr>
          <p:cNvPr id="17" name="Picture 16" descr="bz_13-panel-matching.png"/>
          <p:cNvPicPr>
            <a:picLocks noChangeAspect="1"/>
          </p:cNvPicPr>
          <p:nvPr/>
        </p:nvPicPr>
        <p:blipFill>
          <a:blip r:embed="rId8"/>
          <a:stretch>
            <a:fillRect/>
          </a:stretch>
        </p:blipFill>
        <p:spPr>
          <a:xfrm>
            <a:off x="7991855" y="4270248"/>
            <a:ext cx="3108960" cy="2023674"/>
          </a:xfrm>
          <a:prstGeom prst="rect">
            <a:avLst/>
          </a:prstGeom>
        </p:spPr>
      </p:pic>
      <p:sp>
        <p:nvSpPr>
          <p:cNvPr id="18" name="TextBox 17"/>
          <p:cNvSpPr txBox="1"/>
          <p:nvPr/>
        </p:nvSpPr>
        <p:spPr>
          <a:xfrm>
            <a:off x="7991855"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Panel matching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APPENDIX</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System screens</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19–24 of 36</a:t>
            </a:r>
          </a:p>
        </p:txBody>
      </p:sp>
      <p:pic>
        <p:nvPicPr>
          <p:cNvPr id="7" name="Picture 6" descr="bz_14-defense-scheduling.png"/>
          <p:cNvPicPr>
            <a:picLocks noChangeAspect="1"/>
          </p:cNvPicPr>
          <p:nvPr/>
        </p:nvPicPr>
        <p:blipFill>
          <a:blip r:embed="rId3"/>
          <a:stretch>
            <a:fillRect/>
          </a:stretch>
        </p:blipFill>
        <p:spPr>
          <a:xfrm>
            <a:off x="566928" y="1874519"/>
            <a:ext cx="3108960" cy="2023674"/>
          </a:xfrm>
          <a:prstGeom prst="rect">
            <a:avLst/>
          </a:prstGeom>
        </p:spPr>
      </p:pic>
      <p:sp>
        <p:nvSpPr>
          <p:cNvPr id="8" name="TextBox 7"/>
          <p:cNvSpPr txBox="1"/>
          <p:nvPr/>
        </p:nvSpPr>
        <p:spPr>
          <a:xfrm>
            <a:off x="566928"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Defense scheduling</a:t>
            </a:r>
          </a:p>
        </p:txBody>
      </p:sp>
      <p:pic>
        <p:nvPicPr>
          <p:cNvPr id="9" name="Picture 8" descr="bz_15-practicum.png"/>
          <p:cNvPicPr>
            <a:picLocks noChangeAspect="1"/>
          </p:cNvPicPr>
          <p:nvPr/>
        </p:nvPicPr>
        <p:blipFill>
          <a:blip r:embed="rId4"/>
          <a:stretch>
            <a:fillRect/>
          </a:stretch>
        </p:blipFill>
        <p:spPr>
          <a:xfrm>
            <a:off x="4279392" y="1874519"/>
            <a:ext cx="3108960" cy="2023674"/>
          </a:xfrm>
          <a:prstGeom prst="rect">
            <a:avLst/>
          </a:prstGeom>
        </p:spPr>
      </p:pic>
      <p:sp>
        <p:nvSpPr>
          <p:cNvPr id="10" name="TextBox 9"/>
          <p:cNvSpPr txBox="1"/>
          <p:nvPr/>
        </p:nvSpPr>
        <p:spPr>
          <a:xfrm>
            <a:off x="4279392"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Practicum</a:t>
            </a:r>
          </a:p>
        </p:txBody>
      </p:sp>
      <p:pic>
        <p:nvPicPr>
          <p:cNvPr id="11" name="Picture 10" descr="bz_16-graduation.png"/>
          <p:cNvPicPr>
            <a:picLocks noChangeAspect="1"/>
          </p:cNvPicPr>
          <p:nvPr/>
        </p:nvPicPr>
        <p:blipFill>
          <a:blip r:embed="rId5"/>
          <a:stretch>
            <a:fillRect/>
          </a:stretch>
        </p:blipFill>
        <p:spPr>
          <a:xfrm>
            <a:off x="7991855" y="1874519"/>
            <a:ext cx="3108960" cy="2023674"/>
          </a:xfrm>
          <a:prstGeom prst="rect">
            <a:avLst/>
          </a:prstGeom>
        </p:spPr>
      </p:pic>
      <p:sp>
        <p:nvSpPr>
          <p:cNvPr id="12" name="TextBox 11"/>
          <p:cNvSpPr txBox="1"/>
          <p:nvPr/>
        </p:nvSpPr>
        <p:spPr>
          <a:xfrm>
            <a:off x="7991855"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Graduation</a:t>
            </a:r>
          </a:p>
        </p:txBody>
      </p:sp>
      <p:pic>
        <p:nvPicPr>
          <p:cNvPr id="13" name="Picture 12" descr="bz_17-leave-of-absence.png"/>
          <p:cNvPicPr>
            <a:picLocks noChangeAspect="1"/>
          </p:cNvPicPr>
          <p:nvPr/>
        </p:nvPicPr>
        <p:blipFill>
          <a:blip r:embed="rId6"/>
          <a:stretch>
            <a:fillRect/>
          </a:stretch>
        </p:blipFill>
        <p:spPr>
          <a:xfrm>
            <a:off x="566928" y="4270248"/>
            <a:ext cx="3108960" cy="2023674"/>
          </a:xfrm>
          <a:prstGeom prst="rect">
            <a:avLst/>
          </a:prstGeom>
        </p:spPr>
      </p:pic>
      <p:sp>
        <p:nvSpPr>
          <p:cNvPr id="14" name="TextBox 13"/>
          <p:cNvSpPr txBox="1"/>
          <p:nvPr/>
        </p:nvSpPr>
        <p:spPr>
          <a:xfrm>
            <a:off x="566928"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Leave of absence</a:t>
            </a:r>
          </a:p>
        </p:txBody>
      </p:sp>
      <p:pic>
        <p:nvPicPr>
          <p:cNvPr id="15" name="Picture 14" descr="bz_18-readmission.png"/>
          <p:cNvPicPr>
            <a:picLocks noChangeAspect="1"/>
          </p:cNvPicPr>
          <p:nvPr/>
        </p:nvPicPr>
        <p:blipFill>
          <a:blip r:embed="rId7"/>
          <a:stretch>
            <a:fillRect/>
          </a:stretch>
        </p:blipFill>
        <p:spPr>
          <a:xfrm>
            <a:off x="4279392" y="4270248"/>
            <a:ext cx="3108960" cy="2023674"/>
          </a:xfrm>
          <a:prstGeom prst="rect">
            <a:avLst/>
          </a:prstGeom>
        </p:spPr>
      </p:pic>
      <p:sp>
        <p:nvSpPr>
          <p:cNvPr id="16" name="TextBox 15"/>
          <p:cNvSpPr txBox="1"/>
          <p:nvPr/>
        </p:nvSpPr>
        <p:spPr>
          <a:xfrm>
            <a:off x="4279392"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Readmission</a:t>
            </a:r>
          </a:p>
        </p:txBody>
      </p:sp>
      <p:pic>
        <p:nvPicPr>
          <p:cNvPr id="17" name="Picture 16" descr="bz_19-awol-residency.png"/>
          <p:cNvPicPr>
            <a:picLocks noChangeAspect="1"/>
          </p:cNvPicPr>
          <p:nvPr/>
        </p:nvPicPr>
        <p:blipFill>
          <a:blip r:embed="rId8"/>
          <a:stretch>
            <a:fillRect/>
          </a:stretch>
        </p:blipFill>
        <p:spPr>
          <a:xfrm>
            <a:off x="7991855" y="4270248"/>
            <a:ext cx="3108960" cy="2023674"/>
          </a:xfrm>
          <a:prstGeom prst="rect">
            <a:avLst/>
          </a:prstGeom>
        </p:spPr>
      </p:pic>
      <p:sp>
        <p:nvSpPr>
          <p:cNvPr id="18" name="TextBox 17"/>
          <p:cNvSpPr txBox="1"/>
          <p:nvPr/>
        </p:nvSpPr>
        <p:spPr>
          <a:xfrm>
            <a:off x="7991855"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AWOL &amp; residency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APPENDIX</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System screens</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25–30 of 36</a:t>
            </a:r>
          </a:p>
        </p:txBody>
      </p:sp>
      <p:pic>
        <p:nvPicPr>
          <p:cNvPr id="7" name="Picture 6" descr="bz_20-withdrawal.png"/>
          <p:cNvPicPr>
            <a:picLocks noChangeAspect="1"/>
          </p:cNvPicPr>
          <p:nvPr/>
        </p:nvPicPr>
        <p:blipFill>
          <a:blip r:embed="rId3"/>
          <a:stretch>
            <a:fillRect/>
          </a:stretch>
        </p:blipFill>
        <p:spPr>
          <a:xfrm>
            <a:off x="566928" y="1874519"/>
            <a:ext cx="3108960" cy="2023674"/>
          </a:xfrm>
          <a:prstGeom prst="rect">
            <a:avLst/>
          </a:prstGeom>
        </p:spPr>
      </p:pic>
      <p:sp>
        <p:nvSpPr>
          <p:cNvPr id="8" name="TextBox 7"/>
          <p:cNvSpPr txBox="1"/>
          <p:nvPr/>
        </p:nvSpPr>
        <p:spPr>
          <a:xfrm>
            <a:off x="566928"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Subject withdrawal</a:t>
            </a:r>
          </a:p>
        </p:txBody>
      </p:sp>
      <p:pic>
        <p:nvPicPr>
          <p:cNvPr id="9" name="Picture 8" descr="bz_21-work-queue.png"/>
          <p:cNvPicPr>
            <a:picLocks noChangeAspect="1"/>
          </p:cNvPicPr>
          <p:nvPr/>
        </p:nvPicPr>
        <p:blipFill>
          <a:blip r:embed="rId4"/>
          <a:stretch>
            <a:fillRect/>
          </a:stretch>
        </p:blipFill>
        <p:spPr>
          <a:xfrm>
            <a:off x="4279392" y="1874519"/>
            <a:ext cx="3108960" cy="2023674"/>
          </a:xfrm>
          <a:prstGeom prst="rect">
            <a:avLst/>
          </a:prstGeom>
        </p:spPr>
      </p:pic>
      <p:sp>
        <p:nvSpPr>
          <p:cNvPr id="10" name="TextBox 9"/>
          <p:cNvSpPr txBox="1"/>
          <p:nvPr/>
        </p:nvSpPr>
        <p:spPr>
          <a:xfrm>
            <a:off x="4279392"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Work queue</a:t>
            </a:r>
          </a:p>
        </p:txBody>
      </p:sp>
      <p:pic>
        <p:nvPicPr>
          <p:cNvPr id="11" name="Picture 10" descr="bz_22-activity-log.png"/>
          <p:cNvPicPr>
            <a:picLocks noChangeAspect="1"/>
          </p:cNvPicPr>
          <p:nvPr/>
        </p:nvPicPr>
        <p:blipFill>
          <a:blip r:embed="rId5"/>
          <a:stretch>
            <a:fillRect/>
          </a:stretch>
        </p:blipFill>
        <p:spPr>
          <a:xfrm>
            <a:off x="7991855" y="1874519"/>
            <a:ext cx="3108960" cy="2023674"/>
          </a:xfrm>
          <a:prstGeom prst="rect">
            <a:avLst/>
          </a:prstGeom>
        </p:spPr>
      </p:pic>
      <p:sp>
        <p:nvSpPr>
          <p:cNvPr id="12" name="TextBox 11"/>
          <p:cNvSpPr txBox="1"/>
          <p:nvPr/>
        </p:nvSpPr>
        <p:spPr>
          <a:xfrm>
            <a:off x="7991855"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Activity log</a:t>
            </a:r>
          </a:p>
        </p:txBody>
      </p:sp>
      <p:pic>
        <p:nvPicPr>
          <p:cNvPr id="13" name="Picture 12" descr="bz_23-recommendations.png"/>
          <p:cNvPicPr>
            <a:picLocks noChangeAspect="1"/>
          </p:cNvPicPr>
          <p:nvPr/>
        </p:nvPicPr>
        <p:blipFill>
          <a:blip r:embed="rId6"/>
          <a:stretch>
            <a:fillRect/>
          </a:stretch>
        </p:blipFill>
        <p:spPr>
          <a:xfrm>
            <a:off x="566928" y="4270248"/>
            <a:ext cx="3108960" cy="2023674"/>
          </a:xfrm>
          <a:prstGeom prst="rect">
            <a:avLst/>
          </a:prstGeom>
        </p:spPr>
      </p:pic>
      <p:sp>
        <p:nvSpPr>
          <p:cNvPr id="14" name="TextBox 13"/>
          <p:cNvSpPr txBox="1"/>
          <p:nvPr/>
        </p:nvSpPr>
        <p:spPr>
          <a:xfrm>
            <a:off x="566928"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Recommendations</a:t>
            </a:r>
          </a:p>
        </p:txBody>
      </p:sp>
      <p:pic>
        <p:nvPicPr>
          <p:cNvPr id="15" name="Picture 14" descr="bz_24-policy-assistant.png"/>
          <p:cNvPicPr>
            <a:picLocks noChangeAspect="1"/>
          </p:cNvPicPr>
          <p:nvPr/>
        </p:nvPicPr>
        <p:blipFill>
          <a:blip r:embed="rId7"/>
          <a:stretch>
            <a:fillRect/>
          </a:stretch>
        </p:blipFill>
        <p:spPr>
          <a:xfrm>
            <a:off x="4279392" y="4270248"/>
            <a:ext cx="3108960" cy="2023674"/>
          </a:xfrm>
          <a:prstGeom prst="rect">
            <a:avLst/>
          </a:prstGeom>
        </p:spPr>
      </p:pic>
      <p:sp>
        <p:nvSpPr>
          <p:cNvPr id="16" name="TextBox 15"/>
          <p:cNvSpPr txBox="1"/>
          <p:nvPr/>
        </p:nvSpPr>
        <p:spPr>
          <a:xfrm>
            <a:off x="4279392"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Policy assistant</a:t>
            </a:r>
          </a:p>
        </p:txBody>
      </p:sp>
      <p:pic>
        <p:nvPicPr>
          <p:cNvPr id="17" name="Picture 16" descr="bz_01-dashboard.png"/>
          <p:cNvPicPr>
            <a:picLocks noChangeAspect="1"/>
          </p:cNvPicPr>
          <p:nvPr/>
        </p:nvPicPr>
        <p:blipFill>
          <a:blip r:embed="rId8"/>
          <a:stretch>
            <a:fillRect/>
          </a:stretch>
        </p:blipFill>
        <p:spPr>
          <a:xfrm>
            <a:off x="7991855" y="4270248"/>
            <a:ext cx="3108960" cy="2023674"/>
          </a:xfrm>
          <a:prstGeom prst="rect">
            <a:avLst/>
          </a:prstGeom>
        </p:spPr>
      </p:pic>
      <p:sp>
        <p:nvSpPr>
          <p:cNvPr id="18" name="TextBox 17"/>
          <p:cNvSpPr txBox="1"/>
          <p:nvPr/>
        </p:nvSpPr>
        <p:spPr>
          <a:xfrm>
            <a:off x="7991855"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Form 1 endorsements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APPENDIX</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System screens</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31–36 of 36</a:t>
            </a:r>
          </a:p>
        </p:txBody>
      </p:sp>
      <p:pic>
        <p:nvPicPr>
          <p:cNvPr id="7" name="Picture 6" descr="bz_40-student-detail.png"/>
          <p:cNvPicPr>
            <a:picLocks noChangeAspect="1"/>
          </p:cNvPicPr>
          <p:nvPr/>
        </p:nvPicPr>
        <p:blipFill>
          <a:blip r:embed="rId3"/>
          <a:stretch>
            <a:fillRect/>
          </a:stretch>
        </p:blipFill>
        <p:spPr>
          <a:xfrm>
            <a:off x="566928" y="1874519"/>
            <a:ext cx="3108960" cy="2023674"/>
          </a:xfrm>
          <a:prstGeom prst="rect">
            <a:avLst/>
          </a:prstGeom>
        </p:spPr>
      </p:pic>
      <p:sp>
        <p:nvSpPr>
          <p:cNvPr id="8" name="TextBox 7"/>
          <p:cNvSpPr txBox="1"/>
          <p:nvPr/>
        </p:nvSpPr>
        <p:spPr>
          <a:xfrm>
            <a:off x="566928"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Student detail</a:t>
            </a:r>
          </a:p>
        </p:txBody>
      </p:sp>
      <p:pic>
        <p:nvPicPr>
          <p:cNvPr id="9" name="Picture 8" descr="bz_30-dean-approvals.png"/>
          <p:cNvPicPr>
            <a:picLocks noChangeAspect="1"/>
          </p:cNvPicPr>
          <p:nvPr/>
        </p:nvPicPr>
        <p:blipFill>
          <a:blip r:embed="rId4"/>
          <a:stretch>
            <a:fillRect/>
          </a:stretch>
        </p:blipFill>
        <p:spPr>
          <a:xfrm>
            <a:off x="4279392" y="1874519"/>
            <a:ext cx="3108960" cy="2023674"/>
          </a:xfrm>
          <a:prstGeom prst="rect">
            <a:avLst/>
          </a:prstGeom>
        </p:spPr>
      </p:pic>
      <p:sp>
        <p:nvSpPr>
          <p:cNvPr id="10" name="TextBox 9"/>
          <p:cNvSpPr txBox="1"/>
          <p:nvPr/>
        </p:nvSpPr>
        <p:spPr>
          <a:xfrm>
            <a:off x="4279392"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Dean approvals</a:t>
            </a:r>
          </a:p>
        </p:txBody>
      </p:sp>
      <p:pic>
        <p:nvPicPr>
          <p:cNvPr id="11" name="Picture 10" descr="bz_53-dean-gates.png"/>
          <p:cNvPicPr>
            <a:picLocks noChangeAspect="1"/>
          </p:cNvPicPr>
          <p:nvPr/>
        </p:nvPicPr>
        <p:blipFill>
          <a:blip r:embed="rId5"/>
          <a:stretch>
            <a:fillRect/>
          </a:stretch>
        </p:blipFill>
        <p:spPr>
          <a:xfrm>
            <a:off x="7991855" y="1874519"/>
            <a:ext cx="3108960" cy="2023674"/>
          </a:xfrm>
          <a:prstGeom prst="rect">
            <a:avLst/>
          </a:prstGeom>
        </p:spPr>
      </p:pic>
      <p:sp>
        <p:nvSpPr>
          <p:cNvPr id="12" name="TextBox 11"/>
          <p:cNvSpPr txBox="1"/>
          <p:nvPr/>
        </p:nvSpPr>
        <p:spPr>
          <a:xfrm>
            <a:off x="7991855" y="3941063"/>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Dean portal · report gates</a:t>
            </a:r>
          </a:p>
        </p:txBody>
      </p:sp>
      <p:pic>
        <p:nvPicPr>
          <p:cNvPr id="13" name="Picture 12" descr="bz_32-student-portal.png"/>
          <p:cNvPicPr>
            <a:picLocks noChangeAspect="1"/>
          </p:cNvPicPr>
          <p:nvPr/>
        </p:nvPicPr>
        <p:blipFill>
          <a:blip r:embed="rId6"/>
          <a:stretch>
            <a:fillRect/>
          </a:stretch>
        </p:blipFill>
        <p:spPr>
          <a:xfrm>
            <a:off x="566928" y="4270248"/>
            <a:ext cx="3108960" cy="2023674"/>
          </a:xfrm>
          <a:prstGeom prst="rect">
            <a:avLst/>
          </a:prstGeom>
        </p:spPr>
      </p:pic>
      <p:sp>
        <p:nvSpPr>
          <p:cNvPr id="14" name="TextBox 13"/>
          <p:cNvSpPr txBox="1"/>
          <p:nvPr/>
        </p:nvSpPr>
        <p:spPr>
          <a:xfrm>
            <a:off x="566928"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Student portal</a:t>
            </a:r>
          </a:p>
        </p:txBody>
      </p:sp>
      <p:pic>
        <p:nvPicPr>
          <p:cNvPr id="15" name="Picture 14" descr="bz_39-faculty-portal.png"/>
          <p:cNvPicPr>
            <a:picLocks noChangeAspect="1"/>
          </p:cNvPicPr>
          <p:nvPr/>
        </p:nvPicPr>
        <p:blipFill>
          <a:blip r:embed="rId7"/>
          <a:stretch>
            <a:fillRect/>
          </a:stretch>
        </p:blipFill>
        <p:spPr>
          <a:xfrm>
            <a:off x="4279392" y="4270248"/>
            <a:ext cx="3108960" cy="2023674"/>
          </a:xfrm>
          <a:prstGeom prst="rect">
            <a:avLst/>
          </a:prstGeom>
        </p:spPr>
      </p:pic>
      <p:sp>
        <p:nvSpPr>
          <p:cNvPr id="16" name="TextBox 15"/>
          <p:cNvSpPr txBox="1"/>
          <p:nvPr/>
        </p:nvSpPr>
        <p:spPr>
          <a:xfrm>
            <a:off x="4279392"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Faculty portal</a:t>
            </a:r>
          </a:p>
        </p:txBody>
      </p:sp>
      <p:pic>
        <p:nvPicPr>
          <p:cNvPr id="17" name="Picture 16" descr="bz_35-coordinator-monitoring-sheet.png"/>
          <p:cNvPicPr>
            <a:picLocks noChangeAspect="1"/>
          </p:cNvPicPr>
          <p:nvPr/>
        </p:nvPicPr>
        <p:blipFill>
          <a:blip r:embed="rId8"/>
          <a:stretch>
            <a:fillRect/>
          </a:stretch>
        </p:blipFill>
        <p:spPr>
          <a:xfrm>
            <a:off x="7991855" y="4270248"/>
            <a:ext cx="3108960" cy="2023674"/>
          </a:xfrm>
          <a:prstGeom prst="rect">
            <a:avLst/>
          </a:prstGeom>
        </p:spPr>
      </p:pic>
      <p:sp>
        <p:nvSpPr>
          <p:cNvPr id="18" name="TextBox 17"/>
          <p:cNvSpPr txBox="1"/>
          <p:nvPr/>
        </p:nvSpPr>
        <p:spPr>
          <a:xfrm>
            <a:off x="7991855" y="6336792"/>
            <a:ext cx="3108960" cy="274320"/>
          </a:xfrm>
          <a:prstGeom prst="rect">
            <a:avLst/>
          </a:prstGeom>
          <a:noFill/>
        </p:spPr>
        <p:txBody>
          <a:bodyPr wrap="square" lIns="0" rIns="0" tIns="0" bIns="0" anchor="t">
            <a:spAutoFit/>
          </a:bodyPr>
          <a:lstStyle/>
          <a:p>
            <a:pPr algn="ctr">
              <a:lnSpc>
                <a:spcPct val="125000"/>
              </a:lnSpc>
              <a:spcAft>
                <a:spcPts val="400"/>
              </a:spcAft>
            </a:pPr>
            <a:r>
              <a:rPr sz="1250" b="1" i="0">
                <a:solidFill>
                  <a:srgbClr val="142826"/>
                </a:solidFill>
                <a:latin typeface="Calibri"/>
              </a:rPr>
              <a:t>Coordinator view</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 xml:space="preserve">WHAT THIS MEANS</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 xml:space="preserve">The difficulties that follow from it</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 xml:space="preserve">Continuing the list in Section 1.4 of the approved proposal</a:t>
            </a:r>
          </a:p>
        </p:txBody>
      </p:sp>
      <p:pic>
        <p:nvPicPr>
          <p:cNvPr id="7" name="Picture 6" descr="bz_06-monitoring-sheet.png"/>
          <p:cNvPicPr>
            <a:picLocks noChangeAspect="1"/>
          </p:cNvPicPr>
          <p:nvPr/>
        </p:nvPicPr>
        <p:blipFill>
          <a:blip r:embed="rId3"/>
          <a:stretch>
            <a:fillRect/>
          </a:stretch>
        </p:blipFill>
        <p:spPr>
          <a:xfrm>
            <a:off x="5589727" y="1938528"/>
            <a:ext cx="6035040" cy="3928309"/>
          </a:xfrm>
          <a:prstGeom prst="rect">
            <a:avLst/>
          </a:prstGeom>
        </p:spPr>
      </p:pic>
      <p:sp>
        <p:nvSpPr>
          <p:cNvPr id="8" name="TextBox 7"/>
          <p:cNvSpPr txBox="1"/>
          <p:nvPr/>
        </p:nvSpPr>
        <p:spPr>
          <a:xfrm>
            <a:off x="566928" y="2011680"/>
            <a:ext cx="4892040" cy="3657600"/>
          </a:xfrm>
          <a:prstGeom prst="rect">
            <a:avLst/>
          </a:prstGeom>
          <a:noFill/>
        </p:spPr>
        <p:txBody>
          <a:bodyPr wrap="square" lIns="0" rIns="0" tIns="0" bIns="0">
            <a:spAutoFit/>
          </a:bodyPr>
          <a:lstStyle/>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Difficulty answering basic monitoring questions quickly — </a:t>
            </a:r>
            <a:r>
              <a:rPr sz="1400">
                <a:solidFill>
                  <a:srgbClr val="2C3E3C"/>
                </a:solidFill>
                <a:latin typeface="Calibri"/>
              </a:rPr>
              <a:t xml:space="preserve">where the student is now, what is pending or overdue, who owns the next action, and which cases may be delayed, all without manual checking and reconciliation.</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Difficulty acting early when confirmation is slow — </a:t>
            </a:r>
            <a:r>
              <a:rPr sz="1400">
                <a:solidFill>
                  <a:srgbClr val="2C3E3C"/>
                </a:solidFill>
                <a:latin typeface="Calibri"/>
              </a:rPr>
              <a:t xml:space="preserve">when status confirmation takes too long, follow-ups and decisions are delayed with it, leading to repeated follow-ups and slower response to stalled cases.</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Difficulty generating timely and reliable reports — </a:t>
            </a:r>
            <a:r>
              <a:rPr sz="1400">
                <a:solidFill>
                  <a:srgbClr val="2C3E3C"/>
                </a:solidFill>
                <a:latin typeface="Calibri"/>
              </a:rPr>
              <a:t xml:space="preserve">subject needs for class planning, graduating lists, LOA monitoring and residency tracking are pulled from separate records and combined by hand. Residency is still computed manually by counting the student’s start and end years.</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This is not solved by adding more people — </a:t>
            </a:r>
            <a:r>
              <a:rPr sz="1400">
                <a:solidFill>
                  <a:srgbClr val="2C3E3C"/>
                </a:solidFill>
                <a:latin typeface="Calibri"/>
              </a:rPr>
              <a:t xml:space="preserve">even with more staff assigned, the process stays manual, slower, more costly, and still prone to encoding errors, missed updates and inconsistent results.</a:t>
            </a:r>
          </a:p>
        </p:txBody>
      </p:sp>
      <p:sp>
        <p:nvSpPr>
          <p:cNvPr id="9" name="Rounded Rectangle 8"/>
          <p:cNvSpPr/>
          <p:nvPr/>
        </p:nvSpPr>
        <p:spPr>
          <a:xfrm>
            <a:off x="566928" y="5541264"/>
            <a:ext cx="4892040" cy="658368"/>
          </a:xfrm>
          <a:prstGeom prst="roundRect">
            <a:avLst>
              <a:gd name="adj" fmla="val 4500"/>
            </a:avLst>
          </a:prstGeom>
          <a:solidFill>
            <a:srgbClr val="EC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5541264"/>
            <a:ext cx="4498848" cy="658368"/>
          </a:xfrm>
          <a:prstGeom prst="rect">
            <a:avLst/>
          </a:prstGeom>
          <a:noFill/>
        </p:spPr>
        <p:txBody>
          <a:bodyPr wrap="square" lIns="0" rIns="0" tIns="0" bIns="0" anchor="ctr">
            <a:spAutoFit/>
          </a:bodyPr>
          <a:lstStyle/>
          <a:p>
            <a:pPr algn="l">
              <a:lnSpc>
                <a:spcPct val="115000"/>
              </a:lnSpc>
              <a:spcAft>
                <a:spcPts val="400"/>
              </a:spcAft>
            </a:pPr>
            <a:r>
              <a:rPr sz="1250" b="1" i="0">
                <a:solidFill>
                  <a:srgbClr val="0F7A44"/>
                </a:solidFill>
                <a:latin typeface="Calibri"/>
              </a:rPr>
              <a:t xml:space="preserve">The demonstration that follows answers these from recorded data rather than by hand.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66928" y="402336"/>
            <a:ext cx="54864" cy="237744"/>
          </a:xfrm>
          <a:prstGeom prst="rect">
            <a:avLst/>
          </a:prstGeom>
          <a:solidFill>
            <a:srgbClr val="1C9A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2376" y="384048"/>
            <a:ext cx="8229600" cy="292608"/>
          </a:xfrm>
          <a:prstGeom prst="rect">
            <a:avLst/>
          </a:prstGeom>
          <a:noFill/>
        </p:spPr>
        <p:txBody>
          <a:bodyPr wrap="square" lIns="0" rIns="0" tIns="0" bIns="0" anchor="t">
            <a:spAutoFit/>
          </a:bodyPr>
          <a:lstStyle/>
          <a:p>
            <a:pPr algn="l">
              <a:lnSpc>
                <a:spcPct val="125000"/>
              </a:lnSpc>
              <a:spcAft>
                <a:spcPts val="400"/>
              </a:spcAft>
            </a:pPr>
            <a:r>
              <a:rPr sz="1300" b="1" i="0">
                <a:solidFill>
                  <a:srgbClr val="1C9A59"/>
                </a:solidFill>
                <a:latin typeface="Arial"/>
              </a:rPr>
              <a:t xml:space="preserve">HOW THE NUMBERS ARE COMPUTED</a:t>
            </a:r>
          </a:p>
        </p:txBody>
      </p:sp>
      <p:sp>
        <p:nvSpPr>
          <p:cNvPr id="5" name="TextBox 4"/>
          <p:cNvSpPr txBox="1"/>
          <p:nvPr/>
        </p:nvSpPr>
        <p:spPr>
          <a:xfrm>
            <a:off x="548640" y="749808"/>
            <a:ext cx="11155680" cy="603504"/>
          </a:xfrm>
          <a:prstGeom prst="rect">
            <a:avLst/>
          </a:prstGeom>
          <a:noFill/>
        </p:spPr>
        <p:txBody>
          <a:bodyPr wrap="square" lIns="0" rIns="0" tIns="0" bIns="0" anchor="t">
            <a:spAutoFit/>
          </a:bodyPr>
          <a:lstStyle/>
          <a:p>
            <a:pPr algn="l">
              <a:lnSpc>
                <a:spcPct val="100000"/>
              </a:lnSpc>
              <a:spcAft>
                <a:spcPts val="400"/>
              </a:spcAft>
            </a:pPr>
            <a:r>
              <a:rPr sz="3400" b="1" i="0">
                <a:solidFill>
                  <a:srgbClr val="142826"/>
                </a:solidFill>
                <a:latin typeface="Arial"/>
              </a:rPr>
              <a:t xml:space="preserve">Where subject demand comes from</a:t>
            </a:r>
          </a:p>
        </p:txBody>
      </p:sp>
      <p:sp>
        <p:nvSpPr>
          <p:cNvPr id="6" name="TextBox 5"/>
          <p:cNvSpPr txBox="1"/>
          <p:nvPr/>
        </p:nvSpPr>
        <p:spPr>
          <a:xfrm>
            <a:off x="566928" y="1353312"/>
            <a:ext cx="11064240" cy="347472"/>
          </a:xfrm>
          <a:prstGeom prst="rect">
            <a:avLst/>
          </a:prstGeom>
          <a:noFill/>
        </p:spPr>
        <p:txBody>
          <a:bodyPr wrap="square" lIns="0" rIns="0" tIns="0" bIns="0" anchor="t">
            <a:spAutoFit/>
          </a:bodyPr>
          <a:lstStyle/>
          <a:p>
            <a:pPr algn="l">
              <a:lnSpc>
                <a:spcPct val="100000"/>
              </a:lnSpc>
              <a:spcAft>
                <a:spcPts val="400"/>
              </a:spcAft>
            </a:pPr>
            <a:r>
              <a:rPr sz="1550" b="0" i="0">
                <a:solidFill>
                  <a:srgbClr val="5E716E"/>
                </a:solidFill>
                <a:latin typeface="Calibri"/>
              </a:rPr>
              <a:t xml:space="preserve">Asked for at the consultation: if the screen says eight students, how did it reach eight?</a:t>
            </a:r>
          </a:p>
        </p:txBody>
      </p:sp>
      <p:pic>
        <p:nvPicPr>
          <p:cNvPr id="7" name="Picture 6" descr="bz_50-onboarding-gate.png"/>
          <p:cNvPicPr>
            <a:picLocks noChangeAspect="1"/>
          </p:cNvPicPr>
          <p:nvPr/>
        </p:nvPicPr>
        <p:blipFill>
          <a:blip r:embed="rId3"/>
          <a:stretch>
            <a:fillRect/>
          </a:stretch>
        </p:blipFill>
        <p:spPr>
          <a:xfrm>
            <a:off x="566928" y="1938528"/>
            <a:ext cx="6035040" cy="3928309"/>
          </a:xfrm>
          <a:prstGeom prst="rect">
            <a:avLst/>
          </a:prstGeom>
        </p:spPr>
      </p:pic>
      <p:sp>
        <p:nvSpPr>
          <p:cNvPr id="8" name="TextBox 7"/>
          <p:cNvSpPr txBox="1"/>
          <p:nvPr/>
        </p:nvSpPr>
        <p:spPr>
          <a:xfrm>
            <a:off x="6687007" y="2011680"/>
            <a:ext cx="4892040" cy="3657600"/>
          </a:xfrm>
          <a:prstGeom prst="rect">
            <a:avLst/>
          </a:prstGeom>
          <a:noFill/>
        </p:spPr>
        <p:txBody>
          <a:bodyPr wrap="square" lIns="0" rIns="0" tIns="0" bIns="0">
            <a:spAutoFit/>
          </a:bodyPr>
          <a:lstStyle/>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Start from the curriculum — </a:t>
            </a:r>
            <a:r>
              <a:rPr sz="1400">
                <a:solidFill>
                  <a:srgbClr val="2C3E3C"/>
                </a:solidFill>
                <a:latin typeface="Calibri"/>
              </a:rPr>
              <a:t xml:space="preserve">each student is tagged to a published curriculum version, which fixes the full list of subjects their program requires of them.</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Subtract what is already settled — </a:t>
            </a:r>
            <a:r>
              <a:rPr sz="1400">
                <a:solidFill>
                  <a:srgbClr val="2C3E3C"/>
                </a:solidFill>
                <a:latin typeface="Calibri"/>
              </a:rPr>
              <a:t xml:space="preserve">subjects with a recorded completion, and subjects they are actively enrolled in, are removed.</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What remains is a need — </a:t>
            </a:r>
            <a:r>
              <a:rPr sz="1400">
                <a:solidFill>
                  <a:srgbClr val="2C3E3C"/>
                </a:solidFill>
                <a:latin typeface="Calibri"/>
              </a:rPr>
              <a:t xml:space="preserve">the count for a subject is the number of students that subject is still outstanding for. Nothing is stored; it is recalculated whenever the screen is opened.</a:t>
            </a:r>
          </a:p>
          <a:p>
            <a:pPr>
              <a:lnSpc>
                <a:spcPct val="120000"/>
              </a:lnSpc>
              <a:spcAft>
                <a:spcPts val="900"/>
              </a:spcAft>
            </a:pPr>
            <a:r>
              <a:rPr sz="1400" b="1">
                <a:solidFill>
                  <a:srgbClr val="1C9A59"/>
                </a:solidFill>
                <a:latin typeface="Calibri"/>
              </a:rPr>
              <a:t xml:space="preserve">▪  </a:t>
            </a:r>
            <a:r>
              <a:rPr sz="1400" b="1">
                <a:solidFill>
                  <a:srgbClr val="2C3E3C"/>
                </a:solidFill>
                <a:latin typeface="Calibri"/>
              </a:rPr>
              <a:t xml:space="preserve">Students needing and Not taken differ — </a:t>
            </a:r>
            <a:r>
              <a:rPr sz="1400">
                <a:solidFill>
                  <a:srgbClr val="2C3E3C"/>
                </a:solidFill>
                <a:latin typeface="Calibri"/>
              </a:rPr>
              <a:t xml:space="preserve">Students needing is the subset due to take it next term under their curriculum sequence. Not taken is every student who has not finished it, whenever they are due. Only the first drives the decision.</a:t>
            </a:r>
          </a:p>
        </p:txBody>
      </p:sp>
      <p:sp>
        <p:nvSpPr>
          <p:cNvPr id="9" name="Rounded Rectangle 8"/>
          <p:cNvSpPr/>
          <p:nvPr/>
        </p:nvSpPr>
        <p:spPr>
          <a:xfrm>
            <a:off x="6687007" y="5541264"/>
            <a:ext cx="4892040" cy="658368"/>
          </a:xfrm>
          <a:prstGeom prst="roundRect">
            <a:avLst>
              <a:gd name="adj" fmla="val 4500"/>
            </a:avLst>
          </a:prstGeom>
          <a:solidFill>
            <a:srgbClr val="EC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88175" y="5541264"/>
            <a:ext cx="4498848" cy="658368"/>
          </a:xfrm>
          <a:prstGeom prst="rect">
            <a:avLst/>
          </a:prstGeom>
          <a:noFill/>
        </p:spPr>
        <p:txBody>
          <a:bodyPr wrap="square" lIns="0" rIns="0" tIns="0" bIns="0" anchor="ctr">
            <a:spAutoFit/>
          </a:bodyPr>
          <a:lstStyle/>
          <a:p>
            <a:pPr algn="l">
              <a:lnSpc>
                <a:spcPct val="115000"/>
              </a:lnSpc>
              <a:spcAft>
                <a:spcPts val="400"/>
              </a:spcAft>
            </a:pPr>
            <a:r>
              <a:rPr sz="1250" b="1" i="0">
                <a:solidFill>
                  <a:srgbClr val="0F7A44"/>
                </a:solidFill>
                <a:latin typeface="Calibri"/>
              </a:rPr>
              <a:t xml:space="preserve">The report names the students behind every count, so the number can be checked rather than trusted.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